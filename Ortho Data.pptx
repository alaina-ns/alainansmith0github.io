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2.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3.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61" r:id="rId2"/>
    <p:sldId id="256"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0" d="100"/>
          <a:sy n="100" d="100"/>
        </p:scale>
        <p:origin x="13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lexanderjsmith\Downloads\Venice%20Ortho%20Data.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s045587\Desktop\Kathy's%20Request\Room%20to%20car%20dat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lexanderjsmith\Downloads\Venice%20Ortho%20Data.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s045587\Desktop\Kathy's%20Request\Venice%20Ortho%20Data.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lexanderjsmith\Downloads\Venice%20Ortho%20Data.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b="1" i="0" u="none" strike="noStrike" kern="1200" spc="0" baseline="0" dirty="0">
                <a:solidFill>
                  <a:schemeClr val="tx1">
                    <a:lumMod val="85000"/>
                    <a:lumOff val="15000"/>
                  </a:schemeClr>
                </a:solidFill>
              </a:rPr>
              <a:t>Volume &amp; Percent of Discharges before 1300</a:t>
            </a:r>
            <a:br>
              <a:rPr lang="en-US" sz="1600" b="1" i="0" u="none" strike="noStrike" kern="1200" spc="0" baseline="0" dirty="0">
                <a:solidFill>
                  <a:schemeClr val="tx1">
                    <a:lumMod val="85000"/>
                    <a:lumOff val="15000"/>
                  </a:schemeClr>
                </a:solidFill>
              </a:rPr>
            </a:br>
            <a:r>
              <a:rPr lang="en-US" sz="1600" b="1" i="0" u="none" strike="noStrike" kern="1200" spc="0" baseline="0" dirty="0">
                <a:solidFill>
                  <a:schemeClr val="tx1">
                    <a:lumMod val="85000"/>
                    <a:lumOff val="15000"/>
                  </a:schemeClr>
                </a:solidFill>
              </a:rPr>
              <a:t>(Orthopedic Surgeries)</a:t>
            </a:r>
            <a:endParaRPr lang="en-US" sz="1600" dirty="0"/>
          </a:p>
        </c:rich>
      </c:tx>
      <c:layout>
        <c:manualLayout>
          <c:xMode val="edge"/>
          <c:yMode val="edge"/>
          <c:x val="0.36083956692913388"/>
          <c:y val="9.0803836436333316E-3"/>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spPr>
            <a:solidFill>
              <a:schemeClr val="accent1"/>
            </a:solidFill>
            <a:ln>
              <a:noFill/>
            </a:ln>
            <a:effectLst/>
            <a:sp3d/>
          </c:spPr>
          <c:invertIfNegative val="0"/>
          <c:dPt>
            <c:idx val="1"/>
            <c:invertIfNegative val="0"/>
            <c:bubble3D val="0"/>
            <c:spPr>
              <a:solidFill>
                <a:srgbClr val="C00000"/>
              </a:solidFill>
              <a:ln>
                <a:noFill/>
              </a:ln>
              <a:effectLst/>
              <a:sp3d/>
            </c:spPr>
            <c:extLst>
              <c:ext xmlns:c16="http://schemas.microsoft.com/office/drawing/2014/chart" uri="{C3380CC4-5D6E-409C-BE32-E72D297353CC}">
                <c16:uniqueId val="{00000001-B526-4F49-ABD5-5510131450A7}"/>
              </c:ext>
            </c:extLst>
          </c:dPt>
          <c:dPt>
            <c:idx val="2"/>
            <c:invertIfNegative val="0"/>
            <c:bubble3D val="0"/>
            <c:spPr>
              <a:solidFill>
                <a:srgbClr val="C00000"/>
              </a:solidFill>
              <a:ln>
                <a:noFill/>
              </a:ln>
              <a:effectLst/>
              <a:sp3d/>
            </c:spPr>
            <c:extLst>
              <c:ext xmlns:c16="http://schemas.microsoft.com/office/drawing/2014/chart" uri="{C3380CC4-5D6E-409C-BE32-E72D297353CC}">
                <c16:uniqueId val="{00000003-B526-4F49-ABD5-5510131450A7}"/>
              </c:ext>
            </c:extLst>
          </c:dPt>
          <c:dPt>
            <c:idx val="3"/>
            <c:invertIfNegative val="0"/>
            <c:bubble3D val="0"/>
            <c:spPr>
              <a:solidFill>
                <a:srgbClr val="C00000"/>
              </a:solidFill>
              <a:ln>
                <a:noFill/>
              </a:ln>
              <a:effectLst/>
              <a:sp3d/>
            </c:spPr>
            <c:extLst>
              <c:ext xmlns:c16="http://schemas.microsoft.com/office/drawing/2014/chart" uri="{C3380CC4-5D6E-409C-BE32-E72D297353CC}">
                <c16:uniqueId val="{00000005-B526-4F49-ABD5-5510131450A7}"/>
              </c:ext>
            </c:extLst>
          </c:dPt>
          <c:dPt>
            <c:idx val="4"/>
            <c:invertIfNegative val="0"/>
            <c:bubble3D val="0"/>
            <c:spPr>
              <a:solidFill>
                <a:srgbClr val="C00000"/>
              </a:solidFill>
              <a:ln>
                <a:noFill/>
              </a:ln>
              <a:effectLst/>
              <a:sp3d/>
            </c:spPr>
            <c:extLst>
              <c:ext xmlns:c16="http://schemas.microsoft.com/office/drawing/2014/chart" uri="{C3380CC4-5D6E-409C-BE32-E72D297353CC}">
                <c16:uniqueId val="{00000007-B526-4F49-ABD5-5510131450A7}"/>
              </c:ext>
            </c:extLst>
          </c:dPt>
          <c:dPt>
            <c:idx val="5"/>
            <c:invertIfNegative val="0"/>
            <c:bubble3D val="0"/>
            <c:spPr>
              <a:solidFill>
                <a:srgbClr val="C00000"/>
              </a:solidFill>
              <a:ln>
                <a:noFill/>
              </a:ln>
              <a:effectLst/>
              <a:sp3d/>
            </c:spPr>
            <c:extLst>
              <c:ext xmlns:c16="http://schemas.microsoft.com/office/drawing/2014/chart" uri="{C3380CC4-5D6E-409C-BE32-E72D297353CC}">
                <c16:uniqueId val="{00000009-B526-4F49-ABD5-5510131450A7}"/>
              </c:ext>
            </c:extLst>
          </c:dPt>
          <c:dPt>
            <c:idx val="6"/>
            <c:invertIfNegative val="0"/>
            <c:bubble3D val="0"/>
            <c:spPr>
              <a:solidFill>
                <a:srgbClr val="C00000"/>
              </a:solidFill>
              <a:ln>
                <a:noFill/>
              </a:ln>
              <a:effectLst/>
              <a:sp3d/>
            </c:spPr>
            <c:extLst>
              <c:ext xmlns:c16="http://schemas.microsoft.com/office/drawing/2014/chart" uri="{C3380CC4-5D6E-409C-BE32-E72D297353CC}">
                <c16:uniqueId val="{0000000B-B526-4F49-ABD5-5510131450A7}"/>
              </c:ext>
            </c:extLst>
          </c:dPt>
          <c:dPt>
            <c:idx val="7"/>
            <c:invertIfNegative val="0"/>
            <c:bubble3D val="0"/>
            <c:spPr>
              <a:solidFill>
                <a:srgbClr val="C00000"/>
              </a:solidFill>
              <a:ln>
                <a:noFill/>
              </a:ln>
              <a:effectLst/>
              <a:sp3d/>
            </c:spPr>
            <c:extLst>
              <c:ext xmlns:c16="http://schemas.microsoft.com/office/drawing/2014/chart" uri="{C3380CC4-5D6E-409C-BE32-E72D297353CC}">
                <c16:uniqueId val="{0000000D-B526-4F49-ABD5-5510131450A7}"/>
              </c:ext>
            </c:extLst>
          </c:dPt>
          <c:dPt>
            <c:idx val="8"/>
            <c:invertIfNegative val="0"/>
            <c:bubble3D val="0"/>
            <c:spPr>
              <a:solidFill>
                <a:srgbClr val="C00000"/>
              </a:solidFill>
              <a:ln>
                <a:noFill/>
              </a:ln>
              <a:effectLst/>
              <a:sp3d/>
            </c:spPr>
            <c:extLst>
              <c:ext xmlns:c16="http://schemas.microsoft.com/office/drawing/2014/chart" uri="{C3380CC4-5D6E-409C-BE32-E72D297353CC}">
                <c16:uniqueId val="{0000000F-B526-4F49-ABD5-5510131450A7}"/>
              </c:ext>
            </c:extLst>
          </c:dPt>
          <c:dPt>
            <c:idx val="9"/>
            <c:invertIfNegative val="0"/>
            <c:bubble3D val="0"/>
            <c:spPr>
              <a:solidFill>
                <a:srgbClr val="C00000"/>
              </a:solidFill>
              <a:ln>
                <a:noFill/>
              </a:ln>
              <a:effectLst/>
              <a:sp3d/>
            </c:spPr>
            <c:extLst>
              <c:ext xmlns:c16="http://schemas.microsoft.com/office/drawing/2014/chart" uri="{C3380CC4-5D6E-409C-BE32-E72D297353CC}">
                <c16:uniqueId val="{00000011-B526-4F49-ABD5-5510131450A7}"/>
              </c:ext>
            </c:extLst>
          </c:dPt>
          <c:dPt>
            <c:idx val="10"/>
            <c:invertIfNegative val="0"/>
            <c:bubble3D val="0"/>
            <c:spPr>
              <a:solidFill>
                <a:srgbClr val="C00000"/>
              </a:solidFill>
              <a:ln>
                <a:noFill/>
              </a:ln>
              <a:effectLst/>
              <a:sp3d/>
            </c:spPr>
            <c:extLst>
              <c:ext xmlns:c16="http://schemas.microsoft.com/office/drawing/2014/chart" uri="{C3380CC4-5D6E-409C-BE32-E72D297353CC}">
                <c16:uniqueId val="{00000013-B526-4F49-ABD5-5510131450A7}"/>
              </c:ext>
            </c:extLst>
          </c:dPt>
          <c:dPt>
            <c:idx val="11"/>
            <c:invertIfNegative val="0"/>
            <c:bubble3D val="0"/>
            <c:spPr>
              <a:solidFill>
                <a:srgbClr val="C00000"/>
              </a:solidFill>
              <a:ln>
                <a:noFill/>
              </a:ln>
              <a:effectLst/>
              <a:sp3d/>
            </c:spPr>
            <c:extLst>
              <c:ext xmlns:c16="http://schemas.microsoft.com/office/drawing/2014/chart" uri="{C3380CC4-5D6E-409C-BE32-E72D297353CC}">
                <c16:uniqueId val="{00000015-B526-4F49-ABD5-5510131450A7}"/>
              </c:ext>
            </c:extLst>
          </c:dPt>
          <c:dPt>
            <c:idx val="12"/>
            <c:invertIfNegative val="0"/>
            <c:bubble3D val="0"/>
            <c:spPr>
              <a:solidFill>
                <a:srgbClr val="C00000"/>
              </a:solidFill>
              <a:ln>
                <a:noFill/>
              </a:ln>
              <a:effectLst/>
              <a:sp3d/>
            </c:spPr>
            <c:extLst>
              <c:ext xmlns:c16="http://schemas.microsoft.com/office/drawing/2014/chart" uri="{C3380CC4-5D6E-409C-BE32-E72D297353CC}">
                <c16:uniqueId val="{00000017-B526-4F49-ABD5-5510131450A7}"/>
              </c:ext>
            </c:extLst>
          </c:dPt>
          <c:dPt>
            <c:idx val="14"/>
            <c:invertIfNegative val="0"/>
            <c:bubble3D val="0"/>
            <c:spPr>
              <a:solidFill>
                <a:srgbClr val="F2B800"/>
              </a:solidFill>
              <a:ln>
                <a:noFill/>
              </a:ln>
              <a:effectLst/>
              <a:sp3d/>
            </c:spPr>
            <c:extLst>
              <c:ext xmlns:c16="http://schemas.microsoft.com/office/drawing/2014/chart" uri="{C3380CC4-5D6E-409C-BE32-E72D297353CC}">
                <c16:uniqueId val="{00000019-B526-4F49-ABD5-5510131450A7}"/>
              </c:ext>
            </c:extLst>
          </c:dPt>
          <c:dPt>
            <c:idx val="15"/>
            <c:invertIfNegative val="0"/>
            <c:bubble3D val="0"/>
            <c:spPr>
              <a:solidFill>
                <a:srgbClr val="F2B800"/>
              </a:solidFill>
              <a:ln>
                <a:noFill/>
              </a:ln>
              <a:effectLst/>
              <a:sp3d/>
            </c:spPr>
            <c:extLst>
              <c:ext xmlns:c16="http://schemas.microsoft.com/office/drawing/2014/chart" uri="{C3380CC4-5D6E-409C-BE32-E72D297353CC}">
                <c16:uniqueId val="{0000001B-B526-4F49-ABD5-5510131450A7}"/>
              </c:ext>
            </c:extLst>
          </c:dPt>
          <c:dPt>
            <c:idx val="16"/>
            <c:invertIfNegative val="0"/>
            <c:bubble3D val="0"/>
            <c:spPr>
              <a:solidFill>
                <a:srgbClr val="F2B800"/>
              </a:solidFill>
              <a:ln>
                <a:noFill/>
              </a:ln>
              <a:effectLst/>
              <a:sp3d/>
            </c:spPr>
            <c:extLst>
              <c:ext xmlns:c16="http://schemas.microsoft.com/office/drawing/2014/chart" uri="{C3380CC4-5D6E-409C-BE32-E72D297353CC}">
                <c16:uniqueId val="{0000001D-B526-4F49-ABD5-5510131450A7}"/>
              </c:ext>
            </c:extLst>
          </c:dPt>
          <c:dPt>
            <c:idx val="17"/>
            <c:invertIfNegative val="0"/>
            <c:bubble3D val="0"/>
            <c:spPr>
              <a:solidFill>
                <a:srgbClr val="F2B800"/>
              </a:solidFill>
              <a:ln>
                <a:noFill/>
              </a:ln>
              <a:effectLst/>
              <a:sp3d/>
            </c:spPr>
            <c:extLst>
              <c:ext xmlns:c16="http://schemas.microsoft.com/office/drawing/2014/chart" uri="{C3380CC4-5D6E-409C-BE32-E72D297353CC}">
                <c16:uniqueId val="{0000001F-B526-4F49-ABD5-5510131450A7}"/>
              </c:ext>
            </c:extLst>
          </c:dPt>
          <c:dPt>
            <c:idx val="18"/>
            <c:invertIfNegative val="0"/>
            <c:bubble3D val="0"/>
            <c:spPr>
              <a:solidFill>
                <a:srgbClr val="F2B800"/>
              </a:solidFill>
              <a:ln>
                <a:noFill/>
              </a:ln>
              <a:effectLst/>
              <a:sp3d/>
            </c:spPr>
            <c:extLst>
              <c:ext xmlns:c16="http://schemas.microsoft.com/office/drawing/2014/chart" uri="{C3380CC4-5D6E-409C-BE32-E72D297353CC}">
                <c16:uniqueId val="{00000021-B526-4F49-ABD5-5510131450A7}"/>
              </c:ext>
            </c:extLst>
          </c:dPt>
          <c:dPt>
            <c:idx val="19"/>
            <c:invertIfNegative val="0"/>
            <c:bubble3D val="0"/>
            <c:spPr>
              <a:solidFill>
                <a:srgbClr val="F2B800"/>
              </a:solidFill>
              <a:ln>
                <a:noFill/>
              </a:ln>
              <a:effectLst/>
              <a:sp3d/>
            </c:spPr>
            <c:extLst>
              <c:ext xmlns:c16="http://schemas.microsoft.com/office/drawing/2014/chart" uri="{C3380CC4-5D6E-409C-BE32-E72D297353CC}">
                <c16:uniqueId val="{00000023-B526-4F49-ABD5-5510131450A7}"/>
              </c:ext>
            </c:extLst>
          </c:dPt>
          <c:dPt>
            <c:idx val="20"/>
            <c:invertIfNegative val="0"/>
            <c:bubble3D val="0"/>
            <c:spPr>
              <a:solidFill>
                <a:srgbClr val="F2B800"/>
              </a:solidFill>
              <a:ln>
                <a:noFill/>
              </a:ln>
              <a:effectLst/>
              <a:sp3d/>
            </c:spPr>
            <c:extLst>
              <c:ext xmlns:c16="http://schemas.microsoft.com/office/drawing/2014/chart" uri="{C3380CC4-5D6E-409C-BE32-E72D297353CC}">
                <c16:uniqueId val="{00000025-B526-4F49-ABD5-5510131450A7}"/>
              </c:ext>
            </c:extLst>
          </c:dPt>
          <c:dPt>
            <c:idx val="21"/>
            <c:invertIfNegative val="0"/>
            <c:bubble3D val="0"/>
            <c:spPr>
              <a:solidFill>
                <a:srgbClr val="F2B800"/>
              </a:solidFill>
              <a:ln>
                <a:noFill/>
              </a:ln>
              <a:effectLst/>
              <a:sp3d/>
            </c:spPr>
            <c:extLst>
              <c:ext xmlns:c16="http://schemas.microsoft.com/office/drawing/2014/chart" uri="{C3380CC4-5D6E-409C-BE32-E72D297353CC}">
                <c16:uniqueId val="{00000027-B526-4F49-ABD5-5510131450A7}"/>
              </c:ext>
            </c:extLst>
          </c:dPt>
          <c:dPt>
            <c:idx val="22"/>
            <c:invertIfNegative val="0"/>
            <c:bubble3D val="0"/>
            <c:spPr>
              <a:solidFill>
                <a:srgbClr val="F2B800"/>
              </a:solidFill>
              <a:ln>
                <a:noFill/>
              </a:ln>
              <a:effectLst/>
              <a:sp3d/>
            </c:spPr>
            <c:extLst>
              <c:ext xmlns:c16="http://schemas.microsoft.com/office/drawing/2014/chart" uri="{C3380CC4-5D6E-409C-BE32-E72D297353CC}">
                <c16:uniqueId val="{00000029-B526-4F49-ABD5-5510131450A7}"/>
              </c:ext>
            </c:extLst>
          </c:dPt>
          <c:dPt>
            <c:idx val="23"/>
            <c:invertIfNegative val="0"/>
            <c:bubble3D val="0"/>
            <c:spPr>
              <a:solidFill>
                <a:srgbClr val="F2B800"/>
              </a:solidFill>
              <a:ln>
                <a:noFill/>
              </a:ln>
              <a:effectLst/>
              <a:sp3d/>
            </c:spPr>
            <c:extLst>
              <c:ext xmlns:c16="http://schemas.microsoft.com/office/drawing/2014/chart" uri="{C3380CC4-5D6E-409C-BE32-E72D297353CC}">
                <c16:uniqueId val="{0000002B-B526-4F49-ABD5-5510131450A7}"/>
              </c:ext>
            </c:extLst>
          </c:dPt>
          <c:dPt>
            <c:idx val="24"/>
            <c:invertIfNegative val="0"/>
            <c:bubble3D val="0"/>
            <c:spPr>
              <a:solidFill>
                <a:srgbClr val="F2B800"/>
              </a:solidFill>
              <a:ln>
                <a:noFill/>
              </a:ln>
              <a:effectLst/>
              <a:sp3d/>
            </c:spPr>
            <c:extLst>
              <c:ext xmlns:c16="http://schemas.microsoft.com/office/drawing/2014/chart" uri="{C3380CC4-5D6E-409C-BE32-E72D297353CC}">
                <c16:uniqueId val="{0000002D-B526-4F49-ABD5-5510131450A7}"/>
              </c:ext>
            </c:extLst>
          </c:dPt>
          <c:dPt>
            <c:idx val="25"/>
            <c:invertIfNegative val="0"/>
            <c:bubble3D val="0"/>
            <c:spPr>
              <a:solidFill>
                <a:srgbClr val="F2B800"/>
              </a:solidFill>
              <a:ln>
                <a:noFill/>
              </a:ln>
              <a:effectLst/>
              <a:sp3d/>
            </c:spPr>
            <c:extLst>
              <c:ext xmlns:c16="http://schemas.microsoft.com/office/drawing/2014/chart" uri="{C3380CC4-5D6E-409C-BE32-E72D297353CC}">
                <c16:uniqueId val="{0000002F-B526-4F49-ABD5-5510131450A7}"/>
              </c:ext>
            </c:extLst>
          </c:dPt>
          <c:dPt>
            <c:idx val="27"/>
            <c:invertIfNegative val="0"/>
            <c:bubble3D val="0"/>
            <c:spPr>
              <a:solidFill>
                <a:srgbClr val="00B050"/>
              </a:solidFill>
              <a:ln>
                <a:noFill/>
              </a:ln>
              <a:effectLst/>
              <a:sp3d/>
            </c:spPr>
            <c:extLst>
              <c:ext xmlns:c16="http://schemas.microsoft.com/office/drawing/2014/chart" uri="{C3380CC4-5D6E-409C-BE32-E72D297353CC}">
                <c16:uniqueId val="{00000031-B526-4F49-ABD5-5510131450A7}"/>
              </c:ext>
            </c:extLst>
          </c:dPt>
          <c:dPt>
            <c:idx val="28"/>
            <c:invertIfNegative val="0"/>
            <c:bubble3D val="0"/>
            <c:spPr>
              <a:solidFill>
                <a:srgbClr val="00B050"/>
              </a:solidFill>
              <a:ln>
                <a:noFill/>
              </a:ln>
              <a:effectLst/>
              <a:sp3d/>
            </c:spPr>
            <c:extLst>
              <c:ext xmlns:c16="http://schemas.microsoft.com/office/drawing/2014/chart" uri="{C3380CC4-5D6E-409C-BE32-E72D297353CC}">
                <c16:uniqueId val="{00000033-B526-4F49-ABD5-5510131450A7}"/>
              </c:ext>
            </c:extLst>
          </c:dPt>
          <c:dPt>
            <c:idx val="29"/>
            <c:invertIfNegative val="0"/>
            <c:bubble3D val="0"/>
            <c:spPr>
              <a:solidFill>
                <a:srgbClr val="00B050"/>
              </a:solidFill>
              <a:ln>
                <a:noFill/>
              </a:ln>
              <a:effectLst/>
              <a:sp3d/>
            </c:spPr>
            <c:extLst>
              <c:ext xmlns:c16="http://schemas.microsoft.com/office/drawing/2014/chart" uri="{C3380CC4-5D6E-409C-BE32-E72D297353CC}">
                <c16:uniqueId val="{00000035-B526-4F49-ABD5-5510131450A7}"/>
              </c:ext>
            </c:extLst>
          </c:dPt>
          <c:dPt>
            <c:idx val="30"/>
            <c:invertIfNegative val="0"/>
            <c:bubble3D val="0"/>
            <c:spPr>
              <a:solidFill>
                <a:srgbClr val="00B050"/>
              </a:solidFill>
              <a:ln>
                <a:noFill/>
              </a:ln>
              <a:effectLst/>
              <a:sp3d/>
            </c:spPr>
            <c:extLst>
              <c:ext xmlns:c16="http://schemas.microsoft.com/office/drawing/2014/chart" uri="{C3380CC4-5D6E-409C-BE32-E72D297353CC}">
                <c16:uniqueId val="{00000037-B526-4F49-ABD5-5510131450A7}"/>
              </c:ext>
            </c:extLst>
          </c:dPt>
          <c:dPt>
            <c:idx val="31"/>
            <c:invertIfNegative val="0"/>
            <c:bubble3D val="0"/>
            <c:spPr>
              <a:solidFill>
                <a:srgbClr val="00B050"/>
              </a:solidFill>
              <a:ln>
                <a:noFill/>
              </a:ln>
              <a:effectLst/>
              <a:sp3d/>
            </c:spPr>
            <c:extLst>
              <c:ext xmlns:c16="http://schemas.microsoft.com/office/drawing/2014/chart" uri="{C3380CC4-5D6E-409C-BE32-E72D297353CC}">
                <c16:uniqueId val="{00000039-B526-4F49-ABD5-5510131450A7}"/>
              </c:ext>
            </c:extLst>
          </c:dPt>
          <c:dPt>
            <c:idx val="32"/>
            <c:invertIfNegative val="0"/>
            <c:bubble3D val="0"/>
            <c:spPr>
              <a:solidFill>
                <a:srgbClr val="00B050"/>
              </a:solidFill>
              <a:ln>
                <a:noFill/>
              </a:ln>
              <a:effectLst/>
              <a:sp3d/>
            </c:spPr>
            <c:extLst>
              <c:ext xmlns:c16="http://schemas.microsoft.com/office/drawing/2014/chart" uri="{C3380CC4-5D6E-409C-BE32-E72D297353CC}">
                <c16:uniqueId val="{0000003B-B526-4F49-ABD5-5510131450A7}"/>
              </c:ext>
            </c:extLst>
          </c:dPt>
          <c:dPt>
            <c:idx val="33"/>
            <c:invertIfNegative val="0"/>
            <c:bubble3D val="0"/>
            <c:spPr>
              <a:solidFill>
                <a:srgbClr val="00B050"/>
              </a:solidFill>
              <a:ln>
                <a:noFill/>
              </a:ln>
              <a:effectLst/>
              <a:sp3d/>
            </c:spPr>
            <c:extLst>
              <c:ext xmlns:c16="http://schemas.microsoft.com/office/drawing/2014/chart" uri="{C3380CC4-5D6E-409C-BE32-E72D297353CC}">
                <c16:uniqueId val="{0000003D-B526-4F49-ABD5-5510131450A7}"/>
              </c:ext>
            </c:extLst>
          </c:dPt>
          <c:dPt>
            <c:idx val="34"/>
            <c:invertIfNegative val="0"/>
            <c:bubble3D val="0"/>
            <c:spPr>
              <a:solidFill>
                <a:srgbClr val="00B050"/>
              </a:solidFill>
              <a:ln>
                <a:noFill/>
              </a:ln>
              <a:effectLst/>
              <a:sp3d/>
            </c:spPr>
            <c:extLst>
              <c:ext xmlns:c16="http://schemas.microsoft.com/office/drawing/2014/chart" uri="{C3380CC4-5D6E-409C-BE32-E72D297353CC}">
                <c16:uniqueId val="{0000003F-B526-4F49-ABD5-5510131450A7}"/>
              </c:ext>
            </c:extLst>
          </c:dPt>
          <c:dPt>
            <c:idx val="35"/>
            <c:invertIfNegative val="0"/>
            <c:bubble3D val="0"/>
            <c:spPr>
              <a:solidFill>
                <a:srgbClr val="00B050"/>
              </a:solidFill>
              <a:ln>
                <a:noFill/>
              </a:ln>
              <a:effectLst/>
              <a:sp3d/>
            </c:spPr>
            <c:extLst>
              <c:ext xmlns:c16="http://schemas.microsoft.com/office/drawing/2014/chart" uri="{C3380CC4-5D6E-409C-BE32-E72D297353CC}">
                <c16:uniqueId val="{00000041-B526-4F49-ABD5-5510131450A7}"/>
              </c:ext>
            </c:extLst>
          </c:dPt>
          <c:dPt>
            <c:idx val="36"/>
            <c:invertIfNegative val="0"/>
            <c:bubble3D val="0"/>
            <c:spPr>
              <a:solidFill>
                <a:srgbClr val="00B050"/>
              </a:solidFill>
              <a:ln>
                <a:noFill/>
              </a:ln>
              <a:effectLst/>
              <a:sp3d/>
            </c:spPr>
            <c:extLst>
              <c:ext xmlns:c16="http://schemas.microsoft.com/office/drawing/2014/chart" uri="{C3380CC4-5D6E-409C-BE32-E72D297353CC}">
                <c16:uniqueId val="{00000043-B526-4F49-ABD5-5510131450A7}"/>
              </c:ext>
            </c:extLst>
          </c:dPt>
          <c:dPt>
            <c:idx val="37"/>
            <c:invertIfNegative val="0"/>
            <c:bubble3D val="0"/>
            <c:spPr>
              <a:solidFill>
                <a:srgbClr val="00B050"/>
              </a:solidFill>
              <a:ln>
                <a:noFill/>
              </a:ln>
              <a:effectLst/>
              <a:sp3d/>
            </c:spPr>
            <c:extLst>
              <c:ext xmlns:c16="http://schemas.microsoft.com/office/drawing/2014/chart" uri="{C3380CC4-5D6E-409C-BE32-E72D297353CC}">
                <c16:uniqueId val="{00000045-B526-4F49-ABD5-5510131450A7}"/>
              </c:ext>
            </c:extLst>
          </c:dPt>
          <c:dPt>
            <c:idx val="38"/>
            <c:invertIfNegative val="0"/>
            <c:bubble3D val="0"/>
            <c:spPr>
              <a:solidFill>
                <a:srgbClr val="00B050"/>
              </a:solidFill>
              <a:ln>
                <a:noFill/>
              </a:ln>
              <a:effectLst/>
              <a:sp3d/>
            </c:spPr>
            <c:extLst>
              <c:ext xmlns:c16="http://schemas.microsoft.com/office/drawing/2014/chart" uri="{C3380CC4-5D6E-409C-BE32-E72D297353CC}">
                <c16:uniqueId val="{00000047-B526-4F49-ABD5-5510131450A7}"/>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'before 1pm'!$A$1:$A$49</c:f>
              <c:strCache>
                <c:ptCount val="49"/>
                <c:pt idx="0">
                  <c:v>__</c:v>
                </c:pt>
                <c:pt idx="1">
                  <c:v>Jan</c:v>
                </c:pt>
                <c:pt idx="2">
                  <c:v>Feb</c:v>
                </c:pt>
                <c:pt idx="3">
                  <c:v>Mar</c:v>
                </c:pt>
                <c:pt idx="4">
                  <c:v>Apr</c:v>
                </c:pt>
                <c:pt idx="5">
                  <c:v>May</c:v>
                </c:pt>
                <c:pt idx="6">
                  <c:v>Jun</c:v>
                </c:pt>
                <c:pt idx="7">
                  <c:v>Jul</c:v>
                </c:pt>
                <c:pt idx="8">
                  <c:v>Aug</c:v>
                </c:pt>
                <c:pt idx="9">
                  <c:v>Sep</c:v>
                </c:pt>
                <c:pt idx="10">
                  <c:v>Oct</c:v>
                </c:pt>
                <c:pt idx="11">
                  <c:v>Nov</c:v>
                </c:pt>
                <c:pt idx="12">
                  <c:v>Dec</c:v>
                </c:pt>
                <c:pt idx="13">
                  <c:v>__</c:v>
                </c:pt>
                <c:pt idx="14">
                  <c:v>Jan</c:v>
                </c:pt>
                <c:pt idx="15">
                  <c:v>Feb</c:v>
                </c:pt>
                <c:pt idx="16">
                  <c:v>Mar</c:v>
                </c:pt>
                <c:pt idx="17">
                  <c:v>Apr</c:v>
                </c:pt>
                <c:pt idx="18">
                  <c:v>May</c:v>
                </c:pt>
                <c:pt idx="19">
                  <c:v>Jun</c:v>
                </c:pt>
                <c:pt idx="20">
                  <c:v>Jul</c:v>
                </c:pt>
                <c:pt idx="21">
                  <c:v>Aug</c:v>
                </c:pt>
                <c:pt idx="22">
                  <c:v>Sep</c:v>
                </c:pt>
                <c:pt idx="23">
                  <c:v>Oct</c:v>
                </c:pt>
                <c:pt idx="24">
                  <c:v>Nov</c:v>
                </c:pt>
                <c:pt idx="25">
                  <c:v>Dec</c:v>
                </c:pt>
                <c:pt idx="26">
                  <c:v>__</c:v>
                </c:pt>
                <c:pt idx="27">
                  <c:v>Jan</c:v>
                </c:pt>
                <c:pt idx="28">
                  <c:v>Feb</c:v>
                </c:pt>
                <c:pt idx="29">
                  <c:v>Mar</c:v>
                </c:pt>
                <c:pt idx="30">
                  <c:v>Apr</c:v>
                </c:pt>
                <c:pt idx="31">
                  <c:v>May</c:v>
                </c:pt>
                <c:pt idx="32">
                  <c:v>Jun</c:v>
                </c:pt>
                <c:pt idx="33">
                  <c:v>Jul</c:v>
                </c:pt>
                <c:pt idx="34">
                  <c:v>Aug</c:v>
                </c:pt>
                <c:pt idx="35">
                  <c:v>Sep</c:v>
                </c:pt>
                <c:pt idx="36">
                  <c:v>Oct</c:v>
                </c:pt>
                <c:pt idx="37">
                  <c:v>Nov</c:v>
                </c:pt>
                <c:pt idx="38">
                  <c:v>Dec</c:v>
                </c:pt>
                <c:pt idx="39">
                  <c:v>__</c:v>
                </c:pt>
                <c:pt idx="40">
                  <c:v>Jan</c:v>
                </c:pt>
                <c:pt idx="41">
                  <c:v>Feb</c:v>
                </c:pt>
                <c:pt idx="42">
                  <c:v>Mar</c:v>
                </c:pt>
                <c:pt idx="43">
                  <c:v>Apr</c:v>
                </c:pt>
                <c:pt idx="44">
                  <c:v>May</c:v>
                </c:pt>
                <c:pt idx="45">
                  <c:v>Jun</c:v>
                </c:pt>
                <c:pt idx="46">
                  <c:v>Jul</c:v>
                </c:pt>
                <c:pt idx="47">
                  <c:v>Aug</c:v>
                </c:pt>
                <c:pt idx="48">
                  <c:v>Sep</c:v>
                </c:pt>
              </c:strCache>
            </c:strRef>
          </c:cat>
          <c:val>
            <c:numRef>
              <c:f>'before 1pm'!$B$1:$B$49</c:f>
              <c:numCache>
                <c:formatCode>General</c:formatCode>
                <c:ptCount val="49"/>
                <c:pt idx="1">
                  <c:v>10</c:v>
                </c:pt>
                <c:pt idx="2">
                  <c:v>12</c:v>
                </c:pt>
                <c:pt idx="3">
                  <c:v>22</c:v>
                </c:pt>
                <c:pt idx="4">
                  <c:v>20</c:v>
                </c:pt>
                <c:pt idx="5">
                  <c:v>27</c:v>
                </c:pt>
                <c:pt idx="6">
                  <c:v>31</c:v>
                </c:pt>
                <c:pt idx="7">
                  <c:v>31</c:v>
                </c:pt>
                <c:pt idx="8">
                  <c:v>32</c:v>
                </c:pt>
                <c:pt idx="9">
                  <c:v>32</c:v>
                </c:pt>
                <c:pt idx="10">
                  <c:v>30</c:v>
                </c:pt>
                <c:pt idx="11">
                  <c:v>39</c:v>
                </c:pt>
                <c:pt idx="12">
                  <c:v>44</c:v>
                </c:pt>
                <c:pt idx="14">
                  <c:v>42</c:v>
                </c:pt>
                <c:pt idx="15">
                  <c:v>35</c:v>
                </c:pt>
                <c:pt idx="16">
                  <c:v>52</c:v>
                </c:pt>
                <c:pt idx="17">
                  <c:v>43</c:v>
                </c:pt>
                <c:pt idx="18">
                  <c:v>40</c:v>
                </c:pt>
                <c:pt idx="19">
                  <c:v>36</c:v>
                </c:pt>
                <c:pt idx="20">
                  <c:v>27</c:v>
                </c:pt>
                <c:pt idx="21">
                  <c:v>39</c:v>
                </c:pt>
                <c:pt idx="22">
                  <c:v>45</c:v>
                </c:pt>
                <c:pt idx="23">
                  <c:v>34</c:v>
                </c:pt>
                <c:pt idx="24">
                  <c:v>45</c:v>
                </c:pt>
                <c:pt idx="25">
                  <c:v>43</c:v>
                </c:pt>
                <c:pt idx="27">
                  <c:v>58</c:v>
                </c:pt>
                <c:pt idx="28">
                  <c:v>54</c:v>
                </c:pt>
                <c:pt idx="29">
                  <c:v>56</c:v>
                </c:pt>
                <c:pt idx="30">
                  <c:v>50</c:v>
                </c:pt>
                <c:pt idx="31">
                  <c:v>48</c:v>
                </c:pt>
                <c:pt idx="32">
                  <c:v>46</c:v>
                </c:pt>
                <c:pt idx="33">
                  <c:v>42</c:v>
                </c:pt>
                <c:pt idx="34">
                  <c:v>51</c:v>
                </c:pt>
                <c:pt idx="35">
                  <c:v>46</c:v>
                </c:pt>
                <c:pt idx="36">
                  <c:v>36</c:v>
                </c:pt>
                <c:pt idx="37">
                  <c:v>37</c:v>
                </c:pt>
                <c:pt idx="38">
                  <c:v>34</c:v>
                </c:pt>
                <c:pt idx="40">
                  <c:v>54</c:v>
                </c:pt>
                <c:pt idx="41">
                  <c:v>47</c:v>
                </c:pt>
                <c:pt idx="42">
                  <c:v>43</c:v>
                </c:pt>
                <c:pt idx="43">
                  <c:v>60</c:v>
                </c:pt>
                <c:pt idx="44">
                  <c:v>47</c:v>
                </c:pt>
                <c:pt idx="45">
                  <c:v>57</c:v>
                </c:pt>
                <c:pt idx="46">
                  <c:v>44</c:v>
                </c:pt>
                <c:pt idx="47">
                  <c:v>40</c:v>
                </c:pt>
                <c:pt idx="48">
                  <c:v>35</c:v>
                </c:pt>
              </c:numCache>
            </c:numRef>
          </c:val>
          <c:extLst>
            <c:ext xmlns:c16="http://schemas.microsoft.com/office/drawing/2014/chart" uri="{C3380CC4-5D6E-409C-BE32-E72D297353CC}">
              <c16:uniqueId val="{00000048-B526-4F49-ABD5-5510131450A7}"/>
            </c:ext>
          </c:extLst>
        </c:ser>
        <c:ser>
          <c:idx val="1"/>
          <c:order val="1"/>
          <c:spPr>
            <a:solidFill>
              <a:srgbClr val="00B050"/>
            </a:solidFill>
            <a:ln>
              <a:noFill/>
            </a:ln>
            <a:effectLst/>
            <a:sp3d/>
          </c:spPr>
          <c:invertIfNegative val="0"/>
          <c:dPt>
            <c:idx val="9"/>
            <c:invertIfNegative val="0"/>
            <c:bubble3D val="0"/>
            <c:spPr>
              <a:solidFill>
                <a:srgbClr val="00B050"/>
              </a:solidFill>
              <a:ln>
                <a:noFill/>
              </a:ln>
              <a:effectLst/>
              <a:sp3d/>
            </c:spPr>
            <c:extLst>
              <c:ext xmlns:c16="http://schemas.microsoft.com/office/drawing/2014/chart" uri="{C3380CC4-5D6E-409C-BE32-E72D297353CC}">
                <c16:uniqueId val="{0000004A-B526-4F49-ABD5-5510131450A7}"/>
              </c:ext>
            </c:extLst>
          </c:dPt>
          <c:dLbls>
            <c:dLbl>
              <c:idx val="1"/>
              <c:layout>
                <c:manualLayout>
                  <c:x val="-2.7718040308360053E-3"/>
                  <c:y val="8.307372793354101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B-B526-4F49-ABD5-5510131450A7}"/>
                </c:ext>
              </c:extLst>
            </c:dLbl>
            <c:spPr>
              <a:solidFill>
                <a:schemeClr val="bg1"/>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'before 1pm'!$A$1:$A$49</c:f>
              <c:strCache>
                <c:ptCount val="49"/>
                <c:pt idx="0">
                  <c:v>__</c:v>
                </c:pt>
                <c:pt idx="1">
                  <c:v>Jan</c:v>
                </c:pt>
                <c:pt idx="2">
                  <c:v>Feb</c:v>
                </c:pt>
                <c:pt idx="3">
                  <c:v>Mar</c:v>
                </c:pt>
                <c:pt idx="4">
                  <c:v>Apr</c:v>
                </c:pt>
                <c:pt idx="5">
                  <c:v>May</c:v>
                </c:pt>
                <c:pt idx="6">
                  <c:v>Jun</c:v>
                </c:pt>
                <c:pt idx="7">
                  <c:v>Jul</c:v>
                </c:pt>
                <c:pt idx="8">
                  <c:v>Aug</c:v>
                </c:pt>
                <c:pt idx="9">
                  <c:v>Sep</c:v>
                </c:pt>
                <c:pt idx="10">
                  <c:v>Oct</c:v>
                </c:pt>
                <c:pt idx="11">
                  <c:v>Nov</c:v>
                </c:pt>
                <c:pt idx="12">
                  <c:v>Dec</c:v>
                </c:pt>
                <c:pt idx="13">
                  <c:v>__</c:v>
                </c:pt>
                <c:pt idx="14">
                  <c:v>Jan</c:v>
                </c:pt>
                <c:pt idx="15">
                  <c:v>Feb</c:v>
                </c:pt>
                <c:pt idx="16">
                  <c:v>Mar</c:v>
                </c:pt>
                <c:pt idx="17">
                  <c:v>Apr</c:v>
                </c:pt>
                <c:pt idx="18">
                  <c:v>May</c:v>
                </c:pt>
                <c:pt idx="19">
                  <c:v>Jun</c:v>
                </c:pt>
                <c:pt idx="20">
                  <c:v>Jul</c:v>
                </c:pt>
                <c:pt idx="21">
                  <c:v>Aug</c:v>
                </c:pt>
                <c:pt idx="22">
                  <c:v>Sep</c:v>
                </c:pt>
                <c:pt idx="23">
                  <c:v>Oct</c:v>
                </c:pt>
                <c:pt idx="24">
                  <c:v>Nov</c:v>
                </c:pt>
                <c:pt idx="25">
                  <c:v>Dec</c:v>
                </c:pt>
                <c:pt idx="26">
                  <c:v>__</c:v>
                </c:pt>
                <c:pt idx="27">
                  <c:v>Jan</c:v>
                </c:pt>
                <c:pt idx="28">
                  <c:v>Feb</c:v>
                </c:pt>
                <c:pt idx="29">
                  <c:v>Mar</c:v>
                </c:pt>
                <c:pt idx="30">
                  <c:v>Apr</c:v>
                </c:pt>
                <c:pt idx="31">
                  <c:v>May</c:v>
                </c:pt>
                <c:pt idx="32">
                  <c:v>Jun</c:v>
                </c:pt>
                <c:pt idx="33">
                  <c:v>Jul</c:v>
                </c:pt>
                <c:pt idx="34">
                  <c:v>Aug</c:v>
                </c:pt>
                <c:pt idx="35">
                  <c:v>Sep</c:v>
                </c:pt>
                <c:pt idx="36">
                  <c:v>Oct</c:v>
                </c:pt>
                <c:pt idx="37">
                  <c:v>Nov</c:v>
                </c:pt>
                <c:pt idx="38">
                  <c:v>Dec</c:v>
                </c:pt>
                <c:pt idx="39">
                  <c:v>__</c:v>
                </c:pt>
                <c:pt idx="40">
                  <c:v>Jan</c:v>
                </c:pt>
                <c:pt idx="41">
                  <c:v>Feb</c:v>
                </c:pt>
                <c:pt idx="42">
                  <c:v>Mar</c:v>
                </c:pt>
                <c:pt idx="43">
                  <c:v>Apr</c:v>
                </c:pt>
                <c:pt idx="44">
                  <c:v>May</c:v>
                </c:pt>
                <c:pt idx="45">
                  <c:v>Jun</c:v>
                </c:pt>
                <c:pt idx="46">
                  <c:v>Jul</c:v>
                </c:pt>
                <c:pt idx="47">
                  <c:v>Aug</c:v>
                </c:pt>
                <c:pt idx="48">
                  <c:v>Sep</c:v>
                </c:pt>
              </c:strCache>
            </c:strRef>
          </c:cat>
          <c:val>
            <c:numRef>
              <c:f>'before 1pm'!$C$1:$C$49</c:f>
              <c:numCache>
                <c:formatCode>0%</c:formatCode>
                <c:ptCount val="49"/>
                <c:pt idx="1">
                  <c:v>0.22222222222222221</c:v>
                </c:pt>
                <c:pt idx="2">
                  <c:v>0.36363636363636365</c:v>
                </c:pt>
                <c:pt idx="3">
                  <c:v>0.34920634920634919</c:v>
                </c:pt>
                <c:pt idx="4">
                  <c:v>0.33898305084745761</c:v>
                </c:pt>
                <c:pt idx="5">
                  <c:v>0.42857142857142855</c:v>
                </c:pt>
                <c:pt idx="6">
                  <c:v>0.40259740259740262</c:v>
                </c:pt>
                <c:pt idx="7">
                  <c:v>0.43661971830985913</c:v>
                </c:pt>
                <c:pt idx="8">
                  <c:v>0.42105263157894735</c:v>
                </c:pt>
                <c:pt idx="9">
                  <c:v>0.44444444444444442</c:v>
                </c:pt>
                <c:pt idx="10">
                  <c:v>0.46875</c:v>
                </c:pt>
                <c:pt idx="11">
                  <c:v>0.43820224719101125</c:v>
                </c:pt>
                <c:pt idx="12">
                  <c:v>0.47826086956521741</c:v>
                </c:pt>
                <c:pt idx="14">
                  <c:v>0.54545454545454541</c:v>
                </c:pt>
                <c:pt idx="15">
                  <c:v>0.52238805970149249</c:v>
                </c:pt>
                <c:pt idx="16">
                  <c:v>0.57777777777777772</c:v>
                </c:pt>
                <c:pt idx="17">
                  <c:v>0.56578947368421051</c:v>
                </c:pt>
                <c:pt idx="18">
                  <c:v>0.59701492537313428</c:v>
                </c:pt>
                <c:pt idx="19">
                  <c:v>0.6</c:v>
                </c:pt>
                <c:pt idx="20">
                  <c:v>0.54</c:v>
                </c:pt>
                <c:pt idx="21">
                  <c:v>0.6</c:v>
                </c:pt>
                <c:pt idx="22">
                  <c:v>0.66176470588235292</c:v>
                </c:pt>
                <c:pt idx="23">
                  <c:v>0.58620689655172409</c:v>
                </c:pt>
                <c:pt idx="24">
                  <c:v>0.63380281690140849</c:v>
                </c:pt>
                <c:pt idx="25">
                  <c:v>0.64179104477611937</c:v>
                </c:pt>
                <c:pt idx="27">
                  <c:v>0.651685393258427</c:v>
                </c:pt>
                <c:pt idx="28">
                  <c:v>0.58695652173913049</c:v>
                </c:pt>
                <c:pt idx="29">
                  <c:v>0.7</c:v>
                </c:pt>
                <c:pt idx="30">
                  <c:v>0.5617977528089888</c:v>
                </c:pt>
                <c:pt idx="31">
                  <c:v>0.56470588235294117</c:v>
                </c:pt>
                <c:pt idx="32">
                  <c:v>0.66666666666666663</c:v>
                </c:pt>
                <c:pt idx="33">
                  <c:v>0.61764705882352944</c:v>
                </c:pt>
                <c:pt idx="34">
                  <c:v>0.63749999999999996</c:v>
                </c:pt>
                <c:pt idx="35">
                  <c:v>0.58974358974358976</c:v>
                </c:pt>
                <c:pt idx="36">
                  <c:v>0.5</c:v>
                </c:pt>
                <c:pt idx="37">
                  <c:v>0.49333333333333335</c:v>
                </c:pt>
                <c:pt idx="38">
                  <c:v>0.40476190476190477</c:v>
                </c:pt>
                <c:pt idx="40">
                  <c:v>0.6067415730337079</c:v>
                </c:pt>
                <c:pt idx="41">
                  <c:v>0.51086956521739135</c:v>
                </c:pt>
                <c:pt idx="42">
                  <c:v>0.46236559139784944</c:v>
                </c:pt>
                <c:pt idx="43">
                  <c:v>0.58252427184466016</c:v>
                </c:pt>
                <c:pt idx="44">
                  <c:v>0.58750000000000002</c:v>
                </c:pt>
                <c:pt idx="45">
                  <c:v>0.61956521739130432</c:v>
                </c:pt>
                <c:pt idx="46">
                  <c:v>0.45833333333333331</c:v>
                </c:pt>
                <c:pt idx="47">
                  <c:v>0.46511627906976744</c:v>
                </c:pt>
                <c:pt idx="48">
                  <c:v>0.50724637681159424</c:v>
                </c:pt>
              </c:numCache>
            </c:numRef>
          </c:val>
          <c:extLst>
            <c:ext xmlns:c16="http://schemas.microsoft.com/office/drawing/2014/chart" uri="{C3380CC4-5D6E-409C-BE32-E72D297353CC}">
              <c16:uniqueId val="{0000004C-B526-4F49-ABD5-5510131450A7}"/>
            </c:ext>
          </c:extLst>
        </c:ser>
        <c:dLbls>
          <c:showLegendKey val="0"/>
          <c:showVal val="0"/>
          <c:showCatName val="0"/>
          <c:showSerName val="0"/>
          <c:showPercent val="0"/>
          <c:showBubbleSize val="0"/>
        </c:dLbls>
        <c:gapWidth val="150"/>
        <c:shape val="box"/>
        <c:axId val="964091808"/>
        <c:axId val="964087488"/>
        <c:axId val="0"/>
      </c:bar3DChart>
      <c:catAx>
        <c:axId val="9640918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b="1" dirty="0">
                    <a:solidFill>
                      <a:schemeClr val="tx1">
                        <a:lumMod val="95000"/>
                        <a:lumOff val="5000"/>
                      </a:schemeClr>
                    </a:solidFill>
                  </a:rPr>
                  <a:t>2022</a:t>
                </a:r>
                <a:r>
                  <a:rPr lang="en-US" sz="1600" b="1" baseline="0" dirty="0">
                    <a:solidFill>
                      <a:schemeClr val="tx1">
                        <a:lumMod val="95000"/>
                        <a:lumOff val="5000"/>
                      </a:schemeClr>
                    </a:solidFill>
                  </a:rPr>
                  <a:t>                                     2023                                    2024                                        2025</a:t>
                </a:r>
                <a:endParaRPr lang="en-US" sz="1600" b="1" dirty="0">
                  <a:solidFill>
                    <a:schemeClr val="tx1">
                      <a:lumMod val="95000"/>
                      <a:lumOff val="5000"/>
                    </a:schemeClr>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540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4087488"/>
        <c:crosses val="autoZero"/>
        <c:auto val="1"/>
        <c:lblAlgn val="ctr"/>
        <c:lblOffset val="100"/>
        <c:noMultiLvlLbl val="0"/>
      </c:catAx>
      <c:valAx>
        <c:axId val="9640874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1">
                    <a:solidFill>
                      <a:schemeClr val="tx1">
                        <a:lumMod val="95000"/>
                        <a:lumOff val="5000"/>
                      </a:schemeClr>
                    </a:solidFill>
                  </a:rPr>
                  <a:t>Volume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40918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0" baseline="0">
                <a:solidFill>
                  <a:schemeClr val="tx1">
                    <a:lumMod val="85000"/>
                    <a:lumOff val="15000"/>
                  </a:schemeClr>
                </a:solidFill>
                <a:latin typeface="+mn-lt"/>
                <a:ea typeface="+mn-ea"/>
                <a:cs typeface="+mn-cs"/>
              </a:defRPr>
            </a:pPr>
            <a:r>
              <a:rPr lang="en-US" sz="1800" b="1">
                <a:solidFill>
                  <a:schemeClr val="tx1">
                    <a:lumMod val="85000"/>
                    <a:lumOff val="15000"/>
                  </a:schemeClr>
                </a:solidFill>
              </a:rPr>
              <a:t>Volume</a:t>
            </a:r>
            <a:r>
              <a:rPr lang="en-US" sz="1800" b="1" baseline="0">
                <a:solidFill>
                  <a:schemeClr val="tx1">
                    <a:lumMod val="85000"/>
                    <a:lumOff val="15000"/>
                  </a:schemeClr>
                </a:solidFill>
              </a:rPr>
              <a:t> &amp; Percent of Discharges before 1100</a:t>
            </a:r>
            <a:br>
              <a:rPr lang="en-US" sz="1800" b="1" baseline="0">
                <a:solidFill>
                  <a:schemeClr val="tx1">
                    <a:lumMod val="85000"/>
                    <a:lumOff val="15000"/>
                  </a:schemeClr>
                </a:solidFill>
              </a:rPr>
            </a:br>
            <a:r>
              <a:rPr lang="en-US" sz="1800" b="1" baseline="0">
                <a:solidFill>
                  <a:schemeClr val="tx1">
                    <a:lumMod val="85000"/>
                    <a:lumOff val="15000"/>
                  </a:schemeClr>
                </a:solidFill>
              </a:rPr>
              <a:t>(Orthopedic Surgeries)	</a:t>
            </a:r>
            <a:endParaRPr lang="en-US" sz="1800" b="1">
              <a:solidFill>
                <a:schemeClr val="tx1">
                  <a:lumMod val="85000"/>
                  <a:lumOff val="15000"/>
                </a:schemeClr>
              </a:solidFill>
            </a:endParaRPr>
          </a:p>
        </c:rich>
      </c:tx>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85000"/>
                  <a:lumOff val="1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strRef>
              <c:f>'Discharge Graph'!$B$2</c:f>
              <c:strCache>
                <c:ptCount val="1"/>
                <c:pt idx="0">
                  <c:v>Count</c:v>
                </c:pt>
              </c:strCache>
            </c:strRef>
          </c:tx>
          <c:spPr>
            <a:solidFill>
              <a:schemeClr val="accent1"/>
            </a:solidFill>
            <a:ln>
              <a:noFill/>
            </a:ln>
            <a:effectLst/>
            <a:sp3d/>
          </c:spPr>
          <c:invertIfNegative val="0"/>
          <c:dPt>
            <c:idx val="1"/>
            <c:invertIfNegative val="0"/>
            <c:bubble3D val="0"/>
            <c:spPr>
              <a:solidFill>
                <a:srgbClr val="C00000"/>
              </a:solidFill>
              <a:ln>
                <a:noFill/>
              </a:ln>
              <a:effectLst/>
              <a:sp3d/>
            </c:spPr>
            <c:extLst>
              <c:ext xmlns:c16="http://schemas.microsoft.com/office/drawing/2014/chart" uri="{C3380CC4-5D6E-409C-BE32-E72D297353CC}">
                <c16:uniqueId val="{00000001-0A41-4C84-B2D0-826938544C46}"/>
              </c:ext>
            </c:extLst>
          </c:dPt>
          <c:dPt>
            <c:idx val="2"/>
            <c:invertIfNegative val="0"/>
            <c:bubble3D val="0"/>
            <c:spPr>
              <a:solidFill>
                <a:srgbClr val="C00000"/>
              </a:solidFill>
              <a:ln>
                <a:noFill/>
              </a:ln>
              <a:effectLst/>
              <a:sp3d/>
            </c:spPr>
            <c:extLst>
              <c:ext xmlns:c16="http://schemas.microsoft.com/office/drawing/2014/chart" uri="{C3380CC4-5D6E-409C-BE32-E72D297353CC}">
                <c16:uniqueId val="{00000003-0A41-4C84-B2D0-826938544C46}"/>
              </c:ext>
            </c:extLst>
          </c:dPt>
          <c:dPt>
            <c:idx val="3"/>
            <c:invertIfNegative val="0"/>
            <c:bubble3D val="0"/>
            <c:spPr>
              <a:solidFill>
                <a:srgbClr val="C00000"/>
              </a:solidFill>
              <a:ln>
                <a:noFill/>
              </a:ln>
              <a:effectLst/>
              <a:sp3d/>
            </c:spPr>
            <c:extLst>
              <c:ext xmlns:c16="http://schemas.microsoft.com/office/drawing/2014/chart" uri="{C3380CC4-5D6E-409C-BE32-E72D297353CC}">
                <c16:uniqueId val="{00000005-0A41-4C84-B2D0-826938544C46}"/>
              </c:ext>
            </c:extLst>
          </c:dPt>
          <c:dPt>
            <c:idx val="4"/>
            <c:invertIfNegative val="0"/>
            <c:bubble3D val="0"/>
            <c:spPr>
              <a:solidFill>
                <a:srgbClr val="C00000"/>
              </a:solidFill>
              <a:ln>
                <a:noFill/>
              </a:ln>
              <a:effectLst/>
              <a:sp3d/>
            </c:spPr>
            <c:extLst>
              <c:ext xmlns:c16="http://schemas.microsoft.com/office/drawing/2014/chart" uri="{C3380CC4-5D6E-409C-BE32-E72D297353CC}">
                <c16:uniqueId val="{00000007-0A41-4C84-B2D0-826938544C46}"/>
              </c:ext>
            </c:extLst>
          </c:dPt>
          <c:dPt>
            <c:idx val="5"/>
            <c:invertIfNegative val="0"/>
            <c:bubble3D val="0"/>
            <c:spPr>
              <a:solidFill>
                <a:srgbClr val="C00000"/>
              </a:solidFill>
              <a:ln>
                <a:noFill/>
              </a:ln>
              <a:effectLst/>
              <a:sp3d/>
            </c:spPr>
            <c:extLst>
              <c:ext xmlns:c16="http://schemas.microsoft.com/office/drawing/2014/chart" uri="{C3380CC4-5D6E-409C-BE32-E72D297353CC}">
                <c16:uniqueId val="{00000009-0A41-4C84-B2D0-826938544C46}"/>
              </c:ext>
            </c:extLst>
          </c:dPt>
          <c:dPt>
            <c:idx val="6"/>
            <c:invertIfNegative val="0"/>
            <c:bubble3D val="0"/>
            <c:spPr>
              <a:solidFill>
                <a:srgbClr val="C00000"/>
              </a:solidFill>
              <a:ln>
                <a:noFill/>
              </a:ln>
              <a:effectLst/>
              <a:sp3d/>
            </c:spPr>
            <c:extLst>
              <c:ext xmlns:c16="http://schemas.microsoft.com/office/drawing/2014/chart" uri="{C3380CC4-5D6E-409C-BE32-E72D297353CC}">
                <c16:uniqueId val="{0000000B-0A41-4C84-B2D0-826938544C46}"/>
              </c:ext>
            </c:extLst>
          </c:dPt>
          <c:dPt>
            <c:idx val="7"/>
            <c:invertIfNegative val="0"/>
            <c:bubble3D val="0"/>
            <c:spPr>
              <a:solidFill>
                <a:srgbClr val="C00000"/>
              </a:solidFill>
              <a:ln>
                <a:noFill/>
              </a:ln>
              <a:effectLst/>
              <a:sp3d/>
            </c:spPr>
            <c:extLst>
              <c:ext xmlns:c16="http://schemas.microsoft.com/office/drawing/2014/chart" uri="{C3380CC4-5D6E-409C-BE32-E72D297353CC}">
                <c16:uniqueId val="{0000000D-0A41-4C84-B2D0-826938544C46}"/>
              </c:ext>
            </c:extLst>
          </c:dPt>
          <c:dPt>
            <c:idx val="8"/>
            <c:invertIfNegative val="0"/>
            <c:bubble3D val="0"/>
            <c:spPr>
              <a:solidFill>
                <a:srgbClr val="C00000"/>
              </a:solidFill>
              <a:ln>
                <a:noFill/>
              </a:ln>
              <a:effectLst/>
              <a:sp3d/>
            </c:spPr>
            <c:extLst>
              <c:ext xmlns:c16="http://schemas.microsoft.com/office/drawing/2014/chart" uri="{C3380CC4-5D6E-409C-BE32-E72D297353CC}">
                <c16:uniqueId val="{0000000F-0A41-4C84-B2D0-826938544C46}"/>
              </c:ext>
            </c:extLst>
          </c:dPt>
          <c:dPt>
            <c:idx val="9"/>
            <c:invertIfNegative val="0"/>
            <c:bubble3D val="0"/>
            <c:spPr>
              <a:solidFill>
                <a:srgbClr val="C00000"/>
              </a:solidFill>
              <a:ln>
                <a:noFill/>
              </a:ln>
              <a:effectLst/>
              <a:sp3d/>
            </c:spPr>
            <c:extLst>
              <c:ext xmlns:c16="http://schemas.microsoft.com/office/drawing/2014/chart" uri="{C3380CC4-5D6E-409C-BE32-E72D297353CC}">
                <c16:uniqueId val="{00000011-0A41-4C84-B2D0-826938544C46}"/>
              </c:ext>
            </c:extLst>
          </c:dPt>
          <c:dPt>
            <c:idx val="10"/>
            <c:invertIfNegative val="0"/>
            <c:bubble3D val="0"/>
            <c:spPr>
              <a:solidFill>
                <a:srgbClr val="C00000"/>
              </a:solidFill>
              <a:ln>
                <a:noFill/>
              </a:ln>
              <a:effectLst/>
              <a:sp3d/>
            </c:spPr>
            <c:extLst>
              <c:ext xmlns:c16="http://schemas.microsoft.com/office/drawing/2014/chart" uri="{C3380CC4-5D6E-409C-BE32-E72D297353CC}">
                <c16:uniqueId val="{00000013-0A41-4C84-B2D0-826938544C46}"/>
              </c:ext>
            </c:extLst>
          </c:dPt>
          <c:dPt>
            <c:idx val="11"/>
            <c:invertIfNegative val="0"/>
            <c:bubble3D val="0"/>
            <c:spPr>
              <a:solidFill>
                <a:srgbClr val="C00000"/>
              </a:solidFill>
              <a:ln>
                <a:noFill/>
              </a:ln>
              <a:effectLst/>
              <a:sp3d/>
            </c:spPr>
            <c:extLst>
              <c:ext xmlns:c16="http://schemas.microsoft.com/office/drawing/2014/chart" uri="{C3380CC4-5D6E-409C-BE32-E72D297353CC}">
                <c16:uniqueId val="{00000015-0A41-4C84-B2D0-826938544C46}"/>
              </c:ext>
            </c:extLst>
          </c:dPt>
          <c:dPt>
            <c:idx val="12"/>
            <c:invertIfNegative val="0"/>
            <c:bubble3D val="0"/>
            <c:spPr>
              <a:solidFill>
                <a:srgbClr val="C00000"/>
              </a:solidFill>
              <a:ln>
                <a:noFill/>
              </a:ln>
              <a:effectLst/>
              <a:sp3d/>
            </c:spPr>
            <c:extLst>
              <c:ext xmlns:c16="http://schemas.microsoft.com/office/drawing/2014/chart" uri="{C3380CC4-5D6E-409C-BE32-E72D297353CC}">
                <c16:uniqueId val="{00000017-0A41-4C84-B2D0-826938544C46}"/>
              </c:ext>
            </c:extLst>
          </c:dPt>
          <c:dPt>
            <c:idx val="14"/>
            <c:invertIfNegative val="0"/>
            <c:bubble3D val="0"/>
            <c:spPr>
              <a:solidFill>
                <a:srgbClr val="FFC000"/>
              </a:solidFill>
              <a:ln>
                <a:noFill/>
              </a:ln>
              <a:effectLst/>
              <a:sp3d/>
            </c:spPr>
            <c:extLst>
              <c:ext xmlns:c16="http://schemas.microsoft.com/office/drawing/2014/chart" uri="{C3380CC4-5D6E-409C-BE32-E72D297353CC}">
                <c16:uniqueId val="{00000019-0A41-4C84-B2D0-826938544C46}"/>
              </c:ext>
            </c:extLst>
          </c:dPt>
          <c:dPt>
            <c:idx val="15"/>
            <c:invertIfNegative val="0"/>
            <c:bubble3D val="0"/>
            <c:spPr>
              <a:solidFill>
                <a:srgbClr val="FFC000"/>
              </a:solidFill>
              <a:ln>
                <a:noFill/>
              </a:ln>
              <a:effectLst/>
              <a:sp3d/>
            </c:spPr>
            <c:extLst>
              <c:ext xmlns:c16="http://schemas.microsoft.com/office/drawing/2014/chart" uri="{C3380CC4-5D6E-409C-BE32-E72D297353CC}">
                <c16:uniqueId val="{0000001B-0A41-4C84-B2D0-826938544C46}"/>
              </c:ext>
            </c:extLst>
          </c:dPt>
          <c:dPt>
            <c:idx val="16"/>
            <c:invertIfNegative val="0"/>
            <c:bubble3D val="0"/>
            <c:spPr>
              <a:solidFill>
                <a:srgbClr val="FFC000"/>
              </a:solidFill>
              <a:ln>
                <a:noFill/>
              </a:ln>
              <a:effectLst/>
              <a:sp3d/>
            </c:spPr>
            <c:extLst>
              <c:ext xmlns:c16="http://schemas.microsoft.com/office/drawing/2014/chart" uri="{C3380CC4-5D6E-409C-BE32-E72D297353CC}">
                <c16:uniqueId val="{0000001D-0A41-4C84-B2D0-826938544C46}"/>
              </c:ext>
            </c:extLst>
          </c:dPt>
          <c:dPt>
            <c:idx val="17"/>
            <c:invertIfNegative val="0"/>
            <c:bubble3D val="0"/>
            <c:spPr>
              <a:solidFill>
                <a:srgbClr val="FFC000"/>
              </a:solidFill>
              <a:ln>
                <a:noFill/>
              </a:ln>
              <a:effectLst/>
              <a:sp3d/>
            </c:spPr>
            <c:extLst>
              <c:ext xmlns:c16="http://schemas.microsoft.com/office/drawing/2014/chart" uri="{C3380CC4-5D6E-409C-BE32-E72D297353CC}">
                <c16:uniqueId val="{0000001F-0A41-4C84-B2D0-826938544C46}"/>
              </c:ext>
            </c:extLst>
          </c:dPt>
          <c:dPt>
            <c:idx val="18"/>
            <c:invertIfNegative val="0"/>
            <c:bubble3D val="0"/>
            <c:spPr>
              <a:solidFill>
                <a:srgbClr val="FFC000"/>
              </a:solidFill>
              <a:ln>
                <a:noFill/>
              </a:ln>
              <a:effectLst/>
              <a:sp3d/>
            </c:spPr>
            <c:extLst>
              <c:ext xmlns:c16="http://schemas.microsoft.com/office/drawing/2014/chart" uri="{C3380CC4-5D6E-409C-BE32-E72D297353CC}">
                <c16:uniqueId val="{00000021-0A41-4C84-B2D0-826938544C46}"/>
              </c:ext>
            </c:extLst>
          </c:dPt>
          <c:dPt>
            <c:idx val="19"/>
            <c:invertIfNegative val="0"/>
            <c:bubble3D val="0"/>
            <c:spPr>
              <a:solidFill>
                <a:srgbClr val="FFC000"/>
              </a:solidFill>
              <a:ln>
                <a:noFill/>
              </a:ln>
              <a:effectLst/>
              <a:sp3d/>
            </c:spPr>
            <c:extLst>
              <c:ext xmlns:c16="http://schemas.microsoft.com/office/drawing/2014/chart" uri="{C3380CC4-5D6E-409C-BE32-E72D297353CC}">
                <c16:uniqueId val="{00000023-0A41-4C84-B2D0-826938544C46}"/>
              </c:ext>
            </c:extLst>
          </c:dPt>
          <c:dPt>
            <c:idx val="20"/>
            <c:invertIfNegative val="0"/>
            <c:bubble3D val="0"/>
            <c:spPr>
              <a:solidFill>
                <a:srgbClr val="FFC000"/>
              </a:solidFill>
              <a:ln>
                <a:noFill/>
              </a:ln>
              <a:effectLst/>
              <a:sp3d/>
            </c:spPr>
            <c:extLst>
              <c:ext xmlns:c16="http://schemas.microsoft.com/office/drawing/2014/chart" uri="{C3380CC4-5D6E-409C-BE32-E72D297353CC}">
                <c16:uniqueId val="{00000025-0A41-4C84-B2D0-826938544C46}"/>
              </c:ext>
            </c:extLst>
          </c:dPt>
          <c:dPt>
            <c:idx val="21"/>
            <c:invertIfNegative val="0"/>
            <c:bubble3D val="0"/>
            <c:spPr>
              <a:solidFill>
                <a:srgbClr val="FFC000"/>
              </a:solidFill>
              <a:ln>
                <a:noFill/>
              </a:ln>
              <a:effectLst/>
              <a:sp3d/>
            </c:spPr>
            <c:extLst>
              <c:ext xmlns:c16="http://schemas.microsoft.com/office/drawing/2014/chart" uri="{C3380CC4-5D6E-409C-BE32-E72D297353CC}">
                <c16:uniqueId val="{00000027-0A41-4C84-B2D0-826938544C46}"/>
              </c:ext>
            </c:extLst>
          </c:dPt>
          <c:dPt>
            <c:idx val="22"/>
            <c:invertIfNegative val="0"/>
            <c:bubble3D val="0"/>
            <c:spPr>
              <a:solidFill>
                <a:srgbClr val="FFC000"/>
              </a:solidFill>
              <a:ln>
                <a:noFill/>
              </a:ln>
              <a:effectLst/>
              <a:sp3d/>
            </c:spPr>
            <c:extLst>
              <c:ext xmlns:c16="http://schemas.microsoft.com/office/drawing/2014/chart" uri="{C3380CC4-5D6E-409C-BE32-E72D297353CC}">
                <c16:uniqueId val="{00000029-0A41-4C84-B2D0-826938544C46}"/>
              </c:ext>
            </c:extLst>
          </c:dPt>
          <c:dPt>
            <c:idx val="23"/>
            <c:invertIfNegative val="0"/>
            <c:bubble3D val="0"/>
            <c:spPr>
              <a:solidFill>
                <a:srgbClr val="FFC000"/>
              </a:solidFill>
              <a:ln>
                <a:noFill/>
              </a:ln>
              <a:effectLst/>
              <a:sp3d/>
            </c:spPr>
            <c:extLst>
              <c:ext xmlns:c16="http://schemas.microsoft.com/office/drawing/2014/chart" uri="{C3380CC4-5D6E-409C-BE32-E72D297353CC}">
                <c16:uniqueId val="{0000002B-0A41-4C84-B2D0-826938544C46}"/>
              </c:ext>
            </c:extLst>
          </c:dPt>
          <c:dPt>
            <c:idx val="24"/>
            <c:invertIfNegative val="0"/>
            <c:bubble3D val="0"/>
            <c:spPr>
              <a:solidFill>
                <a:srgbClr val="FFC000"/>
              </a:solidFill>
              <a:ln>
                <a:noFill/>
              </a:ln>
              <a:effectLst/>
              <a:sp3d/>
            </c:spPr>
            <c:extLst>
              <c:ext xmlns:c16="http://schemas.microsoft.com/office/drawing/2014/chart" uri="{C3380CC4-5D6E-409C-BE32-E72D297353CC}">
                <c16:uniqueId val="{0000002D-0A41-4C84-B2D0-826938544C46}"/>
              </c:ext>
            </c:extLst>
          </c:dPt>
          <c:dPt>
            <c:idx val="25"/>
            <c:invertIfNegative val="0"/>
            <c:bubble3D val="0"/>
            <c:spPr>
              <a:solidFill>
                <a:srgbClr val="FFC000"/>
              </a:solidFill>
              <a:ln>
                <a:noFill/>
              </a:ln>
              <a:effectLst/>
              <a:sp3d/>
            </c:spPr>
            <c:extLst>
              <c:ext xmlns:c16="http://schemas.microsoft.com/office/drawing/2014/chart" uri="{C3380CC4-5D6E-409C-BE32-E72D297353CC}">
                <c16:uniqueId val="{0000002F-0A41-4C84-B2D0-826938544C46}"/>
              </c:ext>
            </c:extLst>
          </c:dPt>
          <c:dPt>
            <c:idx val="27"/>
            <c:invertIfNegative val="0"/>
            <c:bubble3D val="0"/>
            <c:spPr>
              <a:solidFill>
                <a:srgbClr val="00B050"/>
              </a:solidFill>
              <a:ln>
                <a:noFill/>
              </a:ln>
              <a:effectLst/>
              <a:sp3d/>
            </c:spPr>
            <c:extLst>
              <c:ext xmlns:c16="http://schemas.microsoft.com/office/drawing/2014/chart" uri="{C3380CC4-5D6E-409C-BE32-E72D297353CC}">
                <c16:uniqueId val="{00000031-0A41-4C84-B2D0-826938544C46}"/>
              </c:ext>
            </c:extLst>
          </c:dPt>
          <c:dPt>
            <c:idx val="28"/>
            <c:invertIfNegative val="0"/>
            <c:bubble3D val="0"/>
            <c:spPr>
              <a:solidFill>
                <a:srgbClr val="00B050"/>
              </a:solidFill>
              <a:ln>
                <a:noFill/>
              </a:ln>
              <a:effectLst/>
              <a:sp3d/>
            </c:spPr>
            <c:extLst>
              <c:ext xmlns:c16="http://schemas.microsoft.com/office/drawing/2014/chart" uri="{C3380CC4-5D6E-409C-BE32-E72D297353CC}">
                <c16:uniqueId val="{00000033-0A41-4C84-B2D0-826938544C46}"/>
              </c:ext>
            </c:extLst>
          </c:dPt>
          <c:dPt>
            <c:idx val="29"/>
            <c:invertIfNegative val="0"/>
            <c:bubble3D val="0"/>
            <c:spPr>
              <a:solidFill>
                <a:srgbClr val="00B050"/>
              </a:solidFill>
              <a:ln>
                <a:noFill/>
              </a:ln>
              <a:effectLst/>
              <a:sp3d/>
            </c:spPr>
            <c:extLst>
              <c:ext xmlns:c16="http://schemas.microsoft.com/office/drawing/2014/chart" uri="{C3380CC4-5D6E-409C-BE32-E72D297353CC}">
                <c16:uniqueId val="{00000035-0A41-4C84-B2D0-826938544C46}"/>
              </c:ext>
            </c:extLst>
          </c:dPt>
          <c:dPt>
            <c:idx val="30"/>
            <c:invertIfNegative val="0"/>
            <c:bubble3D val="0"/>
            <c:spPr>
              <a:solidFill>
                <a:srgbClr val="00B050"/>
              </a:solidFill>
              <a:ln>
                <a:noFill/>
              </a:ln>
              <a:effectLst/>
              <a:sp3d/>
            </c:spPr>
            <c:extLst>
              <c:ext xmlns:c16="http://schemas.microsoft.com/office/drawing/2014/chart" uri="{C3380CC4-5D6E-409C-BE32-E72D297353CC}">
                <c16:uniqueId val="{00000037-0A41-4C84-B2D0-826938544C46}"/>
              </c:ext>
            </c:extLst>
          </c:dPt>
          <c:dPt>
            <c:idx val="31"/>
            <c:invertIfNegative val="0"/>
            <c:bubble3D val="0"/>
            <c:spPr>
              <a:solidFill>
                <a:srgbClr val="00B050"/>
              </a:solidFill>
              <a:ln>
                <a:noFill/>
              </a:ln>
              <a:effectLst/>
              <a:sp3d/>
            </c:spPr>
            <c:extLst>
              <c:ext xmlns:c16="http://schemas.microsoft.com/office/drawing/2014/chart" uri="{C3380CC4-5D6E-409C-BE32-E72D297353CC}">
                <c16:uniqueId val="{00000039-0A41-4C84-B2D0-826938544C46}"/>
              </c:ext>
            </c:extLst>
          </c:dPt>
          <c:dPt>
            <c:idx val="32"/>
            <c:invertIfNegative val="0"/>
            <c:bubble3D val="0"/>
            <c:spPr>
              <a:solidFill>
                <a:srgbClr val="00B050"/>
              </a:solidFill>
              <a:ln>
                <a:noFill/>
              </a:ln>
              <a:effectLst/>
              <a:sp3d/>
            </c:spPr>
            <c:extLst>
              <c:ext xmlns:c16="http://schemas.microsoft.com/office/drawing/2014/chart" uri="{C3380CC4-5D6E-409C-BE32-E72D297353CC}">
                <c16:uniqueId val="{0000003B-0A41-4C84-B2D0-826938544C46}"/>
              </c:ext>
            </c:extLst>
          </c:dPt>
          <c:dPt>
            <c:idx val="33"/>
            <c:invertIfNegative val="0"/>
            <c:bubble3D val="0"/>
            <c:spPr>
              <a:solidFill>
                <a:srgbClr val="00B050"/>
              </a:solidFill>
              <a:ln>
                <a:noFill/>
              </a:ln>
              <a:effectLst/>
              <a:sp3d/>
            </c:spPr>
            <c:extLst>
              <c:ext xmlns:c16="http://schemas.microsoft.com/office/drawing/2014/chart" uri="{C3380CC4-5D6E-409C-BE32-E72D297353CC}">
                <c16:uniqueId val="{0000003D-0A41-4C84-B2D0-826938544C46}"/>
              </c:ext>
            </c:extLst>
          </c:dPt>
          <c:dPt>
            <c:idx val="34"/>
            <c:invertIfNegative val="0"/>
            <c:bubble3D val="0"/>
            <c:spPr>
              <a:solidFill>
                <a:srgbClr val="00B050"/>
              </a:solidFill>
              <a:ln>
                <a:noFill/>
              </a:ln>
              <a:effectLst/>
              <a:sp3d/>
            </c:spPr>
            <c:extLst>
              <c:ext xmlns:c16="http://schemas.microsoft.com/office/drawing/2014/chart" uri="{C3380CC4-5D6E-409C-BE32-E72D297353CC}">
                <c16:uniqueId val="{0000003F-0A41-4C84-B2D0-826938544C46}"/>
              </c:ext>
            </c:extLst>
          </c:dPt>
          <c:dPt>
            <c:idx val="35"/>
            <c:invertIfNegative val="0"/>
            <c:bubble3D val="0"/>
            <c:spPr>
              <a:solidFill>
                <a:srgbClr val="00B050"/>
              </a:solidFill>
              <a:ln>
                <a:noFill/>
              </a:ln>
              <a:effectLst/>
              <a:sp3d/>
            </c:spPr>
            <c:extLst>
              <c:ext xmlns:c16="http://schemas.microsoft.com/office/drawing/2014/chart" uri="{C3380CC4-5D6E-409C-BE32-E72D297353CC}">
                <c16:uniqueId val="{00000041-0A41-4C84-B2D0-826938544C46}"/>
              </c:ext>
            </c:extLst>
          </c:dPt>
          <c:dPt>
            <c:idx val="36"/>
            <c:invertIfNegative val="0"/>
            <c:bubble3D val="0"/>
            <c:spPr>
              <a:solidFill>
                <a:srgbClr val="00B050"/>
              </a:solidFill>
              <a:ln>
                <a:noFill/>
              </a:ln>
              <a:effectLst/>
              <a:sp3d/>
            </c:spPr>
            <c:extLst>
              <c:ext xmlns:c16="http://schemas.microsoft.com/office/drawing/2014/chart" uri="{C3380CC4-5D6E-409C-BE32-E72D297353CC}">
                <c16:uniqueId val="{00000043-0A41-4C84-B2D0-826938544C46}"/>
              </c:ext>
            </c:extLst>
          </c:dPt>
          <c:dPt>
            <c:idx val="37"/>
            <c:invertIfNegative val="0"/>
            <c:bubble3D val="0"/>
            <c:spPr>
              <a:solidFill>
                <a:srgbClr val="00B050"/>
              </a:solidFill>
              <a:ln>
                <a:noFill/>
              </a:ln>
              <a:effectLst/>
              <a:sp3d/>
            </c:spPr>
            <c:extLst>
              <c:ext xmlns:c16="http://schemas.microsoft.com/office/drawing/2014/chart" uri="{C3380CC4-5D6E-409C-BE32-E72D297353CC}">
                <c16:uniqueId val="{00000045-0A41-4C84-B2D0-826938544C46}"/>
              </c:ext>
            </c:extLst>
          </c:dPt>
          <c:dPt>
            <c:idx val="38"/>
            <c:invertIfNegative val="0"/>
            <c:bubble3D val="0"/>
            <c:spPr>
              <a:solidFill>
                <a:srgbClr val="00B050"/>
              </a:solidFill>
              <a:ln>
                <a:noFill/>
              </a:ln>
              <a:effectLst/>
              <a:sp3d/>
            </c:spPr>
            <c:extLst>
              <c:ext xmlns:c16="http://schemas.microsoft.com/office/drawing/2014/chart" uri="{C3380CC4-5D6E-409C-BE32-E72D297353CC}">
                <c16:uniqueId val="{00000047-0A41-4C84-B2D0-826938544C46}"/>
              </c:ext>
            </c:extLst>
          </c:dPt>
          <c:cat>
            <c:strRef>
              <c:f>'Discharge Graph'!$A$3:$A$51</c:f>
              <c:strCache>
                <c:ptCount val="49"/>
                <c:pt idx="0">
                  <c:v>__</c:v>
                </c:pt>
                <c:pt idx="1">
                  <c:v>Jan</c:v>
                </c:pt>
                <c:pt idx="2">
                  <c:v>Feb</c:v>
                </c:pt>
                <c:pt idx="3">
                  <c:v>Mar</c:v>
                </c:pt>
                <c:pt idx="4">
                  <c:v>Apr</c:v>
                </c:pt>
                <c:pt idx="5">
                  <c:v>May</c:v>
                </c:pt>
                <c:pt idx="6">
                  <c:v>Jun</c:v>
                </c:pt>
                <c:pt idx="7">
                  <c:v>Jul</c:v>
                </c:pt>
                <c:pt idx="8">
                  <c:v>Aug</c:v>
                </c:pt>
                <c:pt idx="9">
                  <c:v>Sep</c:v>
                </c:pt>
                <c:pt idx="10">
                  <c:v>Oct</c:v>
                </c:pt>
                <c:pt idx="11">
                  <c:v>Nov</c:v>
                </c:pt>
                <c:pt idx="12">
                  <c:v>Dec</c:v>
                </c:pt>
                <c:pt idx="13">
                  <c:v>__</c:v>
                </c:pt>
                <c:pt idx="14">
                  <c:v>Jan</c:v>
                </c:pt>
                <c:pt idx="15">
                  <c:v>Feb</c:v>
                </c:pt>
                <c:pt idx="16">
                  <c:v>Mar</c:v>
                </c:pt>
                <c:pt idx="17">
                  <c:v>Apr</c:v>
                </c:pt>
                <c:pt idx="18">
                  <c:v>May</c:v>
                </c:pt>
                <c:pt idx="19">
                  <c:v>Jun</c:v>
                </c:pt>
                <c:pt idx="20">
                  <c:v>Jul</c:v>
                </c:pt>
                <c:pt idx="21">
                  <c:v>Aug</c:v>
                </c:pt>
                <c:pt idx="22">
                  <c:v>Sep</c:v>
                </c:pt>
                <c:pt idx="23">
                  <c:v>Oct</c:v>
                </c:pt>
                <c:pt idx="24">
                  <c:v>Nov</c:v>
                </c:pt>
                <c:pt idx="25">
                  <c:v>Dec</c:v>
                </c:pt>
                <c:pt idx="26">
                  <c:v>__</c:v>
                </c:pt>
                <c:pt idx="27">
                  <c:v>Jan</c:v>
                </c:pt>
                <c:pt idx="28">
                  <c:v>Feb</c:v>
                </c:pt>
                <c:pt idx="29">
                  <c:v>Mar</c:v>
                </c:pt>
                <c:pt idx="30">
                  <c:v>Apr</c:v>
                </c:pt>
                <c:pt idx="31">
                  <c:v>May</c:v>
                </c:pt>
                <c:pt idx="32">
                  <c:v>Jun</c:v>
                </c:pt>
                <c:pt idx="33">
                  <c:v>Jul</c:v>
                </c:pt>
                <c:pt idx="34">
                  <c:v>Aug</c:v>
                </c:pt>
                <c:pt idx="35">
                  <c:v>Sep</c:v>
                </c:pt>
                <c:pt idx="36">
                  <c:v>Oct</c:v>
                </c:pt>
                <c:pt idx="37">
                  <c:v>Nov</c:v>
                </c:pt>
                <c:pt idx="38">
                  <c:v>Dec</c:v>
                </c:pt>
                <c:pt idx="39">
                  <c:v>__</c:v>
                </c:pt>
                <c:pt idx="40">
                  <c:v>Jan</c:v>
                </c:pt>
                <c:pt idx="41">
                  <c:v>Feb</c:v>
                </c:pt>
                <c:pt idx="42">
                  <c:v>Mar</c:v>
                </c:pt>
                <c:pt idx="43">
                  <c:v>Apr</c:v>
                </c:pt>
                <c:pt idx="44">
                  <c:v>May</c:v>
                </c:pt>
                <c:pt idx="45">
                  <c:v>Jun</c:v>
                </c:pt>
                <c:pt idx="46">
                  <c:v>Jul</c:v>
                </c:pt>
                <c:pt idx="47">
                  <c:v>Aug</c:v>
                </c:pt>
                <c:pt idx="48">
                  <c:v>Sep</c:v>
                </c:pt>
              </c:strCache>
            </c:strRef>
          </c:cat>
          <c:val>
            <c:numRef>
              <c:f>'Discharge Graph'!$B$3:$B$51</c:f>
              <c:numCache>
                <c:formatCode>General</c:formatCode>
                <c:ptCount val="49"/>
                <c:pt idx="1">
                  <c:v>3</c:v>
                </c:pt>
                <c:pt idx="2">
                  <c:v>8</c:v>
                </c:pt>
                <c:pt idx="3">
                  <c:v>2</c:v>
                </c:pt>
                <c:pt idx="4">
                  <c:v>7</c:v>
                </c:pt>
                <c:pt idx="5">
                  <c:v>11</c:v>
                </c:pt>
                <c:pt idx="6">
                  <c:v>9</c:v>
                </c:pt>
                <c:pt idx="7">
                  <c:v>13</c:v>
                </c:pt>
                <c:pt idx="8">
                  <c:v>12</c:v>
                </c:pt>
                <c:pt idx="9">
                  <c:v>14</c:v>
                </c:pt>
                <c:pt idx="10">
                  <c:v>20</c:v>
                </c:pt>
                <c:pt idx="11">
                  <c:v>21</c:v>
                </c:pt>
                <c:pt idx="12">
                  <c:v>25</c:v>
                </c:pt>
                <c:pt idx="14">
                  <c:v>24</c:v>
                </c:pt>
                <c:pt idx="15">
                  <c:v>21</c:v>
                </c:pt>
                <c:pt idx="16">
                  <c:v>35</c:v>
                </c:pt>
                <c:pt idx="17">
                  <c:v>28</c:v>
                </c:pt>
                <c:pt idx="18">
                  <c:v>28</c:v>
                </c:pt>
                <c:pt idx="19">
                  <c:v>25</c:v>
                </c:pt>
                <c:pt idx="20">
                  <c:v>18</c:v>
                </c:pt>
                <c:pt idx="21">
                  <c:v>29</c:v>
                </c:pt>
                <c:pt idx="22">
                  <c:v>28</c:v>
                </c:pt>
                <c:pt idx="23">
                  <c:v>23</c:v>
                </c:pt>
                <c:pt idx="24">
                  <c:v>28</c:v>
                </c:pt>
                <c:pt idx="25">
                  <c:v>27</c:v>
                </c:pt>
                <c:pt idx="27">
                  <c:v>46</c:v>
                </c:pt>
                <c:pt idx="28">
                  <c:v>40</c:v>
                </c:pt>
                <c:pt idx="29">
                  <c:v>40</c:v>
                </c:pt>
                <c:pt idx="30">
                  <c:v>37</c:v>
                </c:pt>
                <c:pt idx="31">
                  <c:v>30</c:v>
                </c:pt>
                <c:pt idx="32">
                  <c:v>23</c:v>
                </c:pt>
                <c:pt idx="33">
                  <c:v>25</c:v>
                </c:pt>
                <c:pt idx="34">
                  <c:v>27</c:v>
                </c:pt>
                <c:pt idx="35">
                  <c:v>33</c:v>
                </c:pt>
                <c:pt idx="36">
                  <c:v>22</c:v>
                </c:pt>
                <c:pt idx="37">
                  <c:v>18</c:v>
                </c:pt>
                <c:pt idx="38">
                  <c:v>14</c:v>
                </c:pt>
                <c:pt idx="40">
                  <c:v>36</c:v>
                </c:pt>
                <c:pt idx="41">
                  <c:v>28</c:v>
                </c:pt>
                <c:pt idx="42">
                  <c:v>29</c:v>
                </c:pt>
                <c:pt idx="43">
                  <c:v>39</c:v>
                </c:pt>
                <c:pt idx="44">
                  <c:v>29</c:v>
                </c:pt>
                <c:pt idx="45">
                  <c:v>31</c:v>
                </c:pt>
                <c:pt idx="46">
                  <c:v>25</c:v>
                </c:pt>
                <c:pt idx="47">
                  <c:v>33</c:v>
                </c:pt>
                <c:pt idx="48">
                  <c:v>20</c:v>
                </c:pt>
              </c:numCache>
            </c:numRef>
          </c:val>
          <c:extLst>
            <c:ext xmlns:c16="http://schemas.microsoft.com/office/drawing/2014/chart" uri="{C3380CC4-5D6E-409C-BE32-E72D297353CC}">
              <c16:uniqueId val="{00000048-0A41-4C84-B2D0-826938544C46}"/>
            </c:ext>
          </c:extLst>
        </c:ser>
        <c:ser>
          <c:idx val="1"/>
          <c:order val="1"/>
          <c:tx>
            <c:strRef>
              <c:f>'Discharge Graph'!$C$2</c:f>
              <c:strCache>
                <c:ptCount val="1"/>
                <c:pt idx="0">
                  <c:v>Percent</c:v>
                </c:pt>
              </c:strCache>
            </c:strRef>
          </c:tx>
          <c:spPr>
            <a:solidFill>
              <a:srgbClr val="00B050"/>
            </a:solidFill>
            <a:ln>
              <a:noFill/>
            </a:ln>
            <a:effectLst/>
            <a:sp3d/>
          </c:spPr>
          <c:invertIfNegative val="0"/>
          <c:dPt>
            <c:idx val="18"/>
            <c:invertIfNegative val="0"/>
            <c:bubble3D val="0"/>
            <c:spPr>
              <a:solidFill>
                <a:srgbClr val="00B050"/>
              </a:solidFill>
              <a:ln>
                <a:noFill/>
              </a:ln>
              <a:effectLst/>
              <a:sp3d/>
            </c:spPr>
            <c:extLst>
              <c:ext xmlns:c16="http://schemas.microsoft.com/office/drawing/2014/chart" uri="{C3380CC4-5D6E-409C-BE32-E72D297353CC}">
                <c16:uniqueId val="{0000004A-0A41-4C84-B2D0-826938544C46}"/>
              </c:ext>
            </c:extLst>
          </c:dPt>
          <c:dPt>
            <c:idx val="21"/>
            <c:invertIfNegative val="0"/>
            <c:bubble3D val="0"/>
            <c:spPr>
              <a:solidFill>
                <a:srgbClr val="00B050"/>
              </a:solidFill>
              <a:ln>
                <a:noFill/>
              </a:ln>
              <a:effectLst/>
              <a:sp3d/>
            </c:spPr>
            <c:extLst>
              <c:ext xmlns:c16="http://schemas.microsoft.com/office/drawing/2014/chart" uri="{C3380CC4-5D6E-409C-BE32-E72D297353CC}">
                <c16:uniqueId val="{0000004C-0A41-4C84-B2D0-826938544C46}"/>
              </c:ext>
            </c:extLst>
          </c:dPt>
          <c:dPt>
            <c:idx val="25"/>
            <c:invertIfNegative val="0"/>
            <c:bubble3D val="0"/>
            <c:spPr>
              <a:solidFill>
                <a:srgbClr val="00B050"/>
              </a:solidFill>
              <a:ln>
                <a:noFill/>
              </a:ln>
              <a:effectLst/>
              <a:sp3d/>
            </c:spPr>
            <c:extLst>
              <c:ext xmlns:c16="http://schemas.microsoft.com/office/drawing/2014/chart" uri="{C3380CC4-5D6E-409C-BE32-E72D297353CC}">
                <c16:uniqueId val="{0000004E-0A41-4C84-B2D0-826938544C46}"/>
              </c:ext>
            </c:extLst>
          </c:dPt>
          <c:dLbls>
            <c:dLbl>
              <c:idx val="0"/>
              <c:showLegendKey val="0"/>
              <c:showVal val="1"/>
              <c:showCatName val="0"/>
              <c:showSerName val="0"/>
              <c:showPercent val="0"/>
              <c:showBubbleSize val="0"/>
              <c:extLst>
                <c:ext xmlns:c15="http://schemas.microsoft.com/office/drawing/2012/chart" uri="{CE6537A1-D6FC-4f65-9D91-7224C49458BB}">
                  <c15:layout>
                    <c:manualLayout>
                      <c:w val="0"/>
                      <c:h val="0"/>
                    </c:manualLayout>
                  </c15:layout>
                </c:ext>
                <c:ext xmlns:c16="http://schemas.microsoft.com/office/drawing/2014/chart" uri="{C3380CC4-5D6E-409C-BE32-E72D297353CC}">
                  <c16:uniqueId val="{0000004F-0A41-4C84-B2D0-826938544C46}"/>
                </c:ext>
              </c:extLst>
            </c:dLbl>
            <c:dLbl>
              <c:idx val="1"/>
              <c:layout>
                <c:manualLayout>
                  <c:x val="-7.5757575757575916E-3"/>
                  <c:y val="-4.1407874245264053E-3"/>
                </c:manualLayout>
              </c:layout>
              <c:showLegendKey val="0"/>
              <c:showVal val="1"/>
              <c:showCatName val="0"/>
              <c:showSerName val="0"/>
              <c:showPercent val="0"/>
              <c:showBubbleSize val="0"/>
              <c:extLst>
                <c:ext xmlns:c15="http://schemas.microsoft.com/office/drawing/2012/chart" uri="{CE6537A1-D6FC-4f65-9D91-7224C49458BB}">
                  <c15:layout>
                    <c:manualLayout>
                      <c:w val="3.318637339754018E-2"/>
                      <c:h val="2.6818608568267319E-2"/>
                    </c:manualLayout>
                  </c15:layout>
                </c:ext>
                <c:ext xmlns:c16="http://schemas.microsoft.com/office/drawing/2014/chart" uri="{C3380CC4-5D6E-409C-BE32-E72D297353CC}">
                  <c16:uniqueId val="{00000050-0A41-4C84-B2D0-826938544C46}"/>
                </c:ext>
              </c:extLst>
            </c:dLbl>
            <c:dLbl>
              <c:idx val="2"/>
              <c:showLegendKey val="0"/>
              <c:showVal val="1"/>
              <c:showCatName val="0"/>
              <c:showSerName val="0"/>
              <c:showPercent val="0"/>
              <c:showBubbleSize val="0"/>
              <c:extLst>
                <c:ext xmlns:c15="http://schemas.microsoft.com/office/drawing/2012/chart" uri="{CE6537A1-D6FC-4f65-9D91-7224C49458BB}">
                  <c15:layout>
                    <c:manualLayout>
                      <c:w val="3.625951714713347E-2"/>
                      <c:h val="2.6818608568267319E-2"/>
                    </c:manualLayout>
                  </c15:layout>
                </c:ext>
                <c:ext xmlns:c16="http://schemas.microsoft.com/office/drawing/2014/chart" uri="{C3380CC4-5D6E-409C-BE32-E72D297353CC}">
                  <c16:uniqueId val="{00000051-0A41-4C84-B2D0-826938544C46}"/>
                </c:ext>
              </c:extLst>
            </c:dLbl>
            <c:dLbl>
              <c:idx val="3"/>
              <c:showLegendKey val="0"/>
              <c:showVal val="1"/>
              <c:showCatName val="0"/>
              <c:showSerName val="0"/>
              <c:showPercent val="0"/>
              <c:showBubbleSize val="0"/>
              <c:extLst>
                <c:ext xmlns:c15="http://schemas.microsoft.com/office/drawing/2012/chart" uri="{CE6537A1-D6FC-4f65-9D91-7224C49458BB}">
                  <c15:layout>
                    <c:manualLayout>
                      <c:w val="3.180896292922062E-2"/>
                      <c:h val="2.6818608568267319E-2"/>
                    </c:manualLayout>
                  </c15:layout>
                </c:ext>
                <c:ext xmlns:c16="http://schemas.microsoft.com/office/drawing/2014/chart" uri="{C3380CC4-5D6E-409C-BE32-E72D297353CC}">
                  <c16:uniqueId val="{00000052-0A41-4C84-B2D0-826938544C46}"/>
                </c:ext>
              </c:extLst>
            </c:dLbl>
            <c:dLbl>
              <c:idx val="4"/>
              <c:showLegendKey val="0"/>
              <c:showVal val="1"/>
              <c:showCatName val="0"/>
              <c:showSerName val="0"/>
              <c:showPercent val="0"/>
              <c:showBubbleSize val="0"/>
              <c:extLst>
                <c:ext xmlns:c15="http://schemas.microsoft.com/office/drawing/2012/chart" uri="{CE6537A1-D6FC-4f65-9D91-7224C49458BB}">
                  <c15:layout>
                    <c:manualLayout>
                      <c:w val="3.3732240081560054E-2"/>
                      <c:h val="2.6818608568267319E-2"/>
                    </c:manualLayout>
                  </c15:layout>
                </c:ext>
                <c:ext xmlns:c16="http://schemas.microsoft.com/office/drawing/2014/chart" uri="{C3380CC4-5D6E-409C-BE32-E72D297353CC}">
                  <c16:uniqueId val="{00000053-0A41-4C84-B2D0-826938544C46}"/>
                </c:ext>
              </c:extLst>
            </c:dLbl>
            <c:dLbl>
              <c:idx val="5"/>
              <c:layout>
                <c:manualLayout>
                  <c:x val="-2.5252233536568581E-17"/>
                  <c:y val="-6.2111811367896088E-3"/>
                </c:manualLayout>
              </c:layout>
              <c:showLegendKey val="0"/>
              <c:showVal val="1"/>
              <c:showCatName val="0"/>
              <c:showSerName val="0"/>
              <c:showPercent val="0"/>
              <c:showBubbleSize val="0"/>
              <c:extLst>
                <c:ext xmlns:c15="http://schemas.microsoft.com/office/drawing/2012/chart" uri="{CE6537A1-D6FC-4f65-9D91-7224C49458BB}">
                  <c15:layout>
                    <c:manualLayout>
                      <c:w val="3.9014338083772589E-2"/>
                      <c:h val="2.6818608568267319E-2"/>
                    </c:manualLayout>
                  </c15:layout>
                </c:ext>
                <c:ext xmlns:c16="http://schemas.microsoft.com/office/drawing/2014/chart" uri="{C3380CC4-5D6E-409C-BE32-E72D297353CC}">
                  <c16:uniqueId val="{00000054-0A41-4C84-B2D0-826938544C46}"/>
                </c:ext>
              </c:extLst>
            </c:dLbl>
            <c:dLbl>
              <c:idx val="6"/>
              <c:layout>
                <c:manualLayout>
                  <c:x val="-2.5252233536568581E-17"/>
                  <c:y val="6.2111811367894561E-3"/>
                </c:manualLayout>
              </c:layout>
              <c:showLegendKey val="0"/>
              <c:showVal val="1"/>
              <c:showCatName val="0"/>
              <c:showSerName val="0"/>
              <c:showPercent val="0"/>
              <c:showBubbleSize val="0"/>
              <c:extLst>
                <c:ext xmlns:c15="http://schemas.microsoft.com/office/drawing/2012/chart" uri="{CE6537A1-D6FC-4f65-9D91-7224C49458BB}">
                  <c15:layout>
                    <c:manualLayout>
                      <c:w val="3.3504696210494352E-2"/>
                      <c:h val="2.6818608568267319E-2"/>
                    </c:manualLayout>
                  </c15:layout>
                </c:ext>
                <c:ext xmlns:c16="http://schemas.microsoft.com/office/drawing/2014/chart" uri="{C3380CC4-5D6E-409C-BE32-E72D297353CC}">
                  <c16:uniqueId val="{00000055-0A41-4C84-B2D0-826938544C46}"/>
                </c:ext>
              </c:extLst>
            </c:dLbl>
            <c:dLbl>
              <c:idx val="7"/>
              <c:layout>
                <c:manualLayout>
                  <c:x val="2.7548209366390934E-3"/>
                  <c:y val="-1.8500190492523917E-2"/>
                </c:manualLayout>
              </c:layout>
              <c:showLegendKey val="0"/>
              <c:showVal val="1"/>
              <c:showCatName val="0"/>
              <c:showSerName val="0"/>
              <c:showPercent val="0"/>
              <c:showBubbleSize val="0"/>
              <c:extLst>
                <c:ext xmlns:c15="http://schemas.microsoft.com/office/drawing/2012/chart" uri="{CE6537A1-D6FC-4f65-9D91-7224C49458BB}">
                  <c15:layout>
                    <c:manualLayout>
                      <c:w val="3.8666948656211363E-2"/>
                      <c:h val="2.6818608568267319E-2"/>
                    </c:manualLayout>
                  </c15:layout>
                </c:ext>
                <c:ext xmlns:c16="http://schemas.microsoft.com/office/drawing/2014/chart" uri="{C3380CC4-5D6E-409C-BE32-E72D297353CC}">
                  <c16:uniqueId val="{00000056-0A41-4C84-B2D0-826938544C46}"/>
                </c:ext>
              </c:extLst>
            </c:dLbl>
            <c:dLbl>
              <c:idx val="8"/>
              <c:layout>
                <c:manualLayout>
                  <c:x val="0"/>
                  <c:y val="8.2815748490528106E-3"/>
                </c:manualLayout>
              </c:layout>
              <c:showLegendKey val="0"/>
              <c:showVal val="1"/>
              <c:showCatName val="0"/>
              <c:showSerName val="0"/>
              <c:showPercent val="0"/>
              <c:showBubbleSize val="0"/>
              <c:extLst>
                <c:ext xmlns:c15="http://schemas.microsoft.com/office/drawing/2012/chart" uri="{CE6537A1-D6FC-4f65-9D91-7224C49458BB}">
                  <c15:layout>
                    <c:manualLayout>
                      <c:w val="3.4307173380186982E-2"/>
                      <c:h val="2.6818608568267319E-2"/>
                    </c:manualLayout>
                  </c15:layout>
                </c:ext>
                <c:ext xmlns:c16="http://schemas.microsoft.com/office/drawing/2014/chart" uri="{C3380CC4-5D6E-409C-BE32-E72D297353CC}">
                  <c16:uniqueId val="{00000057-0A41-4C84-B2D0-826938544C46}"/>
                </c:ext>
              </c:extLst>
            </c:dLbl>
            <c:dLbl>
              <c:idx val="9"/>
              <c:showLegendKey val="0"/>
              <c:showVal val="1"/>
              <c:showCatName val="0"/>
              <c:showSerName val="0"/>
              <c:showPercent val="0"/>
              <c:showBubbleSize val="0"/>
              <c:extLst>
                <c:ext xmlns:c15="http://schemas.microsoft.com/office/drawing/2012/chart" uri="{CE6537A1-D6FC-4f65-9D91-7224C49458BB}">
                  <c15:layout>
                    <c:manualLayout>
                      <c:w val="3.2702219040801721E-2"/>
                      <c:h val="2.6818608568267319E-2"/>
                    </c:manualLayout>
                  </c15:layout>
                </c:ext>
                <c:ext xmlns:c16="http://schemas.microsoft.com/office/drawing/2014/chart" uri="{C3380CC4-5D6E-409C-BE32-E72D297353CC}">
                  <c16:uniqueId val="{00000058-0A41-4C84-B2D0-826938544C46}"/>
                </c:ext>
              </c:extLst>
            </c:dLbl>
            <c:dLbl>
              <c:idx val="10"/>
              <c:layout>
                <c:manualLayout>
                  <c:x val="-6.8870523415977963E-3"/>
                  <c:y val="2.0703937122632785E-3"/>
                </c:manualLayout>
              </c:layout>
              <c:showLegendKey val="0"/>
              <c:showVal val="1"/>
              <c:showCatName val="0"/>
              <c:showSerName val="0"/>
              <c:showPercent val="0"/>
              <c:showBubbleSize val="0"/>
              <c:extLst>
                <c:ext xmlns:c15="http://schemas.microsoft.com/office/drawing/2012/chart" uri="{CE6537A1-D6FC-4f65-9D91-7224C49458BB}">
                  <c15:layout>
                    <c:manualLayout>
                      <c:w val="3.2474783627253208E-2"/>
                      <c:h val="2.6818608568267319E-2"/>
                    </c:manualLayout>
                  </c15:layout>
                </c:ext>
                <c:ext xmlns:c16="http://schemas.microsoft.com/office/drawing/2014/chart" uri="{C3380CC4-5D6E-409C-BE32-E72D297353CC}">
                  <c16:uniqueId val="{00000059-0A41-4C84-B2D0-826938544C46}"/>
                </c:ext>
              </c:extLst>
            </c:dLbl>
            <c:dLbl>
              <c:idx val="11"/>
              <c:layout>
                <c:manualLayout>
                  <c:x val="1.3774104683195593E-3"/>
                  <c:y val="-8.2815748490528869E-3"/>
                </c:manualLayout>
              </c:layout>
              <c:showLegendKey val="0"/>
              <c:showVal val="1"/>
              <c:showCatName val="0"/>
              <c:showSerName val="0"/>
              <c:showPercent val="0"/>
              <c:showBubbleSize val="0"/>
              <c:extLst>
                <c:ext xmlns:c15="http://schemas.microsoft.com/office/drawing/2012/chart" uri="{CE6537A1-D6FC-4f65-9D91-7224C49458BB}">
                  <c15:layout>
                    <c:manualLayout>
                      <c:w val="3.4307173380186982E-2"/>
                      <c:h val="2.6818608568267319E-2"/>
                    </c:manualLayout>
                  </c15:layout>
                </c:ext>
                <c:ext xmlns:c16="http://schemas.microsoft.com/office/drawing/2014/chart" uri="{C3380CC4-5D6E-409C-BE32-E72D297353CC}">
                  <c16:uniqueId val="{0000005A-0A41-4C84-B2D0-826938544C46}"/>
                </c:ext>
              </c:extLst>
            </c:dLbl>
            <c:dLbl>
              <c:idx val="12"/>
              <c:showLegendKey val="0"/>
              <c:showVal val="1"/>
              <c:showCatName val="0"/>
              <c:showSerName val="0"/>
              <c:showPercent val="0"/>
              <c:showBubbleSize val="0"/>
              <c:extLst>
                <c:ext xmlns:c15="http://schemas.microsoft.com/office/drawing/2012/chart" uri="{CE6537A1-D6FC-4f65-9D91-7224C49458BB}">
                  <c15:layout>
                    <c:manualLayout>
                      <c:w val="3.8786902670224076E-2"/>
                      <c:h val="2.6818608568267319E-2"/>
                    </c:manualLayout>
                  </c15:layout>
                </c:ext>
                <c:ext xmlns:c16="http://schemas.microsoft.com/office/drawing/2014/chart" uri="{C3380CC4-5D6E-409C-BE32-E72D297353CC}">
                  <c16:uniqueId val="{0000005B-0A41-4C84-B2D0-826938544C46}"/>
                </c:ext>
              </c:extLst>
            </c:dLbl>
            <c:dLbl>
              <c:idx val="13"/>
              <c:showLegendKey val="0"/>
              <c:showVal val="1"/>
              <c:showCatName val="0"/>
              <c:showSerName val="0"/>
              <c:showPercent val="0"/>
              <c:showBubbleSize val="0"/>
              <c:extLst>
                <c:ext xmlns:c15="http://schemas.microsoft.com/office/drawing/2012/chart" uri="{CE6537A1-D6FC-4f65-9D91-7224C49458BB}">
                  <c15:layout>
                    <c:manualLayout>
                      <c:w val="0"/>
                      <c:h val="0"/>
                    </c:manualLayout>
                  </c15:layout>
                </c:ext>
                <c:ext xmlns:c16="http://schemas.microsoft.com/office/drawing/2014/chart" uri="{C3380CC4-5D6E-409C-BE32-E72D297353CC}">
                  <c16:uniqueId val="{0000005C-0A41-4C84-B2D0-826938544C46}"/>
                </c:ext>
              </c:extLst>
            </c:dLbl>
            <c:dLbl>
              <c:idx val="14"/>
              <c:layout>
                <c:manualLayout>
                  <c:x val="0"/>
                  <c:y val="4.1407874245263298E-3"/>
                </c:manualLayout>
              </c:layout>
              <c:showLegendKey val="0"/>
              <c:showVal val="1"/>
              <c:showCatName val="0"/>
              <c:showSerName val="0"/>
              <c:showPercent val="0"/>
              <c:showBubbleSize val="0"/>
              <c:extLst>
                <c:ext xmlns:c15="http://schemas.microsoft.com/office/drawing/2012/chart" uri="{CE6537A1-D6FC-4f65-9D91-7224C49458BB}">
                  <c15:layout>
                    <c:manualLayout>
                      <c:w val="3.4882106678813911E-2"/>
                      <c:h val="2.6818608568267319E-2"/>
                    </c:manualLayout>
                  </c15:layout>
                </c:ext>
                <c:ext xmlns:c16="http://schemas.microsoft.com/office/drawing/2014/chart" uri="{C3380CC4-5D6E-409C-BE32-E72D297353CC}">
                  <c16:uniqueId val="{0000005D-0A41-4C84-B2D0-826938544C46}"/>
                </c:ext>
              </c:extLst>
            </c:dLbl>
            <c:dLbl>
              <c:idx val="15"/>
              <c:layout>
                <c:manualLayout>
                  <c:x val="0"/>
                  <c:y val="4.1407874245264053E-3"/>
                </c:manualLayout>
              </c:layout>
              <c:showLegendKey val="0"/>
              <c:showVal val="1"/>
              <c:showCatName val="0"/>
              <c:showSerName val="0"/>
              <c:showPercent val="0"/>
              <c:showBubbleSize val="0"/>
              <c:extLst>
                <c:ext xmlns:c15="http://schemas.microsoft.com/office/drawing/2012/chart" uri="{CE6537A1-D6FC-4f65-9D91-7224C49458BB}">
                  <c15:layout>
                    <c:manualLayout>
                      <c:w val="3.3504696210494352E-2"/>
                      <c:h val="2.6818608568267319E-2"/>
                    </c:manualLayout>
                  </c15:layout>
                </c:ext>
                <c:ext xmlns:c16="http://schemas.microsoft.com/office/drawing/2014/chart" uri="{C3380CC4-5D6E-409C-BE32-E72D297353CC}">
                  <c16:uniqueId val="{0000005E-0A41-4C84-B2D0-826938544C46}"/>
                </c:ext>
              </c:extLst>
            </c:dLbl>
            <c:dLbl>
              <c:idx val="16"/>
              <c:showLegendKey val="0"/>
              <c:showVal val="1"/>
              <c:showCatName val="0"/>
              <c:showSerName val="0"/>
              <c:showPercent val="0"/>
              <c:showBubbleSize val="0"/>
              <c:extLst>
                <c:ext xmlns:c15="http://schemas.microsoft.com/office/drawing/2012/chart" uri="{CE6537A1-D6FC-4f65-9D91-7224C49458BB}">
                  <c15:layout>
                    <c:manualLayout>
                      <c:w val="3.7636927615453029E-2"/>
                      <c:h val="2.6818608568267319E-2"/>
                    </c:manualLayout>
                  </c15:layout>
                </c:ext>
                <c:ext xmlns:c16="http://schemas.microsoft.com/office/drawing/2014/chart" uri="{C3380CC4-5D6E-409C-BE32-E72D297353CC}">
                  <c16:uniqueId val="{0000005F-0A41-4C84-B2D0-826938544C46}"/>
                </c:ext>
              </c:extLst>
            </c:dLbl>
            <c:dLbl>
              <c:idx val="17"/>
              <c:layout>
                <c:manualLayout>
                  <c:x val="-6.1983471074380167E-3"/>
                  <c:y val="-2.0703937122632026E-3"/>
                </c:manualLayout>
              </c:layout>
              <c:showLegendKey val="0"/>
              <c:showVal val="1"/>
              <c:showCatName val="0"/>
              <c:showSerName val="0"/>
              <c:showPercent val="0"/>
              <c:showBubbleSize val="0"/>
              <c:extLst>
                <c:ext xmlns:c15="http://schemas.microsoft.com/office/drawing/2012/chart" uri="{CE6537A1-D6FC-4f65-9D91-7224C49458BB}">
                  <c15:layout>
                    <c:manualLayout>
                      <c:w val="3.4882106678813911E-2"/>
                      <c:h val="2.6818608568267319E-2"/>
                    </c:manualLayout>
                  </c15:layout>
                </c:ext>
                <c:ext xmlns:c16="http://schemas.microsoft.com/office/drawing/2014/chart" uri="{C3380CC4-5D6E-409C-BE32-E72D297353CC}">
                  <c16:uniqueId val="{00000060-0A41-4C84-B2D0-826938544C46}"/>
                </c:ext>
              </c:extLst>
            </c:dLbl>
            <c:dLbl>
              <c:idx val="18"/>
              <c:layout>
                <c:manualLayout>
                  <c:x val="8.5396195310296959E-3"/>
                  <c:y val="4.1407874245264053E-3"/>
                </c:manualLayout>
              </c:layout>
              <c:showLegendKey val="0"/>
              <c:showVal val="1"/>
              <c:showCatName val="0"/>
              <c:showSerName val="0"/>
              <c:showPercent val="0"/>
              <c:showBubbleSize val="0"/>
              <c:extLst>
                <c:ext xmlns:c15="http://schemas.microsoft.com/office/drawing/2012/chart" uri="{CE6537A1-D6FC-4f65-9D91-7224C49458BB}">
                  <c15:layout>
                    <c:manualLayout>
                      <c:w val="3.407962950912128E-2"/>
                      <c:h val="2.6818608568267319E-2"/>
                    </c:manualLayout>
                  </c15:layout>
                </c:ext>
                <c:ext xmlns:c16="http://schemas.microsoft.com/office/drawing/2014/chart" uri="{C3380CC4-5D6E-409C-BE32-E72D297353CC}">
                  <c16:uniqueId val="{0000004A-0A41-4C84-B2D0-826938544C46}"/>
                </c:ext>
              </c:extLst>
            </c:dLbl>
            <c:dLbl>
              <c:idx val="19"/>
              <c:layout>
                <c:manualLayout>
                  <c:x val="1.3774104683195087E-3"/>
                  <c:y val="4.1407874245264053E-3"/>
                </c:manualLayout>
              </c:layout>
              <c:showLegendKey val="0"/>
              <c:showVal val="1"/>
              <c:showCatName val="0"/>
              <c:showSerName val="0"/>
              <c:showPercent val="0"/>
              <c:showBubbleSize val="0"/>
              <c:extLst>
                <c:ext xmlns:c15="http://schemas.microsoft.com/office/drawing/2012/chart" uri="{CE6537A1-D6FC-4f65-9D91-7224C49458BB}">
                  <c15:layout>
                    <c:manualLayout>
                      <c:w val="3.2702219040801721E-2"/>
                      <c:h val="2.6818608568267319E-2"/>
                    </c:manualLayout>
                  </c15:layout>
                </c:ext>
                <c:ext xmlns:c16="http://schemas.microsoft.com/office/drawing/2014/chart" uri="{C3380CC4-5D6E-409C-BE32-E72D297353CC}">
                  <c16:uniqueId val="{00000061-0A41-4C84-B2D0-826938544C46}"/>
                </c:ext>
              </c:extLst>
            </c:dLbl>
            <c:dLbl>
              <c:idx val="20"/>
              <c:layout>
                <c:manualLayout>
                  <c:x val="-5.0504467073137162E-17"/>
                  <c:y val="6.2111811367895325E-3"/>
                </c:manualLayout>
              </c:layout>
              <c:showLegendKey val="0"/>
              <c:showVal val="1"/>
              <c:showCatName val="0"/>
              <c:showSerName val="0"/>
              <c:showPercent val="0"/>
              <c:showBubbleSize val="0"/>
              <c:extLst>
                <c:ext xmlns:c15="http://schemas.microsoft.com/office/drawing/2012/chart" uri="{CE6537A1-D6FC-4f65-9D91-7224C49458BB}">
                  <c15:layout>
                    <c:manualLayout>
                      <c:w val="3.407962950912128E-2"/>
                      <c:h val="2.6818608568267319E-2"/>
                    </c:manualLayout>
                  </c15:layout>
                </c:ext>
                <c:ext xmlns:c16="http://schemas.microsoft.com/office/drawing/2014/chart" uri="{C3380CC4-5D6E-409C-BE32-E72D297353CC}">
                  <c16:uniqueId val="{00000062-0A41-4C84-B2D0-826938544C46}"/>
                </c:ext>
              </c:extLst>
            </c:dLbl>
            <c:dLbl>
              <c:idx val="21"/>
              <c:layout>
                <c:manualLayout>
                  <c:x val="1.3774104683195593E-3"/>
                  <c:y val="-9.1167423284169366E-3"/>
                </c:manualLayout>
              </c:layout>
              <c:showLegendKey val="0"/>
              <c:showVal val="1"/>
              <c:showCatName val="0"/>
              <c:showSerName val="0"/>
              <c:showPercent val="0"/>
              <c:showBubbleSize val="0"/>
              <c:extLst>
                <c:ext xmlns:c15="http://schemas.microsoft.com/office/drawing/2012/chart" uri="{CE6537A1-D6FC-4f65-9D91-7224C49458BB}">
                  <c15:layout>
                    <c:manualLayout>
                      <c:w val="3.5457039977440839E-2"/>
                      <c:h val="2.6818608568267319E-2"/>
                    </c:manualLayout>
                  </c15:layout>
                </c:ext>
                <c:ext xmlns:c16="http://schemas.microsoft.com/office/drawing/2014/chart" uri="{C3380CC4-5D6E-409C-BE32-E72D297353CC}">
                  <c16:uniqueId val="{0000004C-0A41-4C84-B2D0-826938544C46}"/>
                </c:ext>
              </c:extLst>
            </c:dLbl>
            <c:dLbl>
              <c:idx val="22"/>
              <c:layout>
                <c:manualLayout>
                  <c:x val="4.7010368538642402E-3"/>
                  <c:y val="6.2111811367895325E-3"/>
                </c:manualLayout>
              </c:layout>
              <c:showLegendKey val="0"/>
              <c:showVal val="1"/>
              <c:showCatName val="0"/>
              <c:showSerName val="0"/>
              <c:showPercent val="0"/>
              <c:showBubbleSize val="0"/>
              <c:extLst>
                <c:ext xmlns:c15="http://schemas.microsoft.com/office/drawing/2012/chart" uri="{CE6537A1-D6FC-4f65-9D91-7224C49458BB}">
                  <c15:layout>
                    <c:manualLayout>
                      <c:w val="3.5684583848506535E-2"/>
                      <c:h val="2.6818608568267319E-2"/>
                    </c:manualLayout>
                  </c15:layout>
                </c:ext>
                <c:ext xmlns:c16="http://schemas.microsoft.com/office/drawing/2014/chart" uri="{C3380CC4-5D6E-409C-BE32-E72D297353CC}">
                  <c16:uniqueId val="{00000063-0A41-4C84-B2D0-826938544C46}"/>
                </c:ext>
              </c:extLst>
            </c:dLbl>
            <c:dLbl>
              <c:idx val="23"/>
              <c:layout>
                <c:manualLayout>
                  <c:x val="1.3774104683195593E-3"/>
                  <c:y val="4.1407874245263298E-3"/>
                </c:manualLayout>
              </c:layout>
              <c:showLegendKey val="0"/>
              <c:showVal val="1"/>
              <c:showCatName val="0"/>
              <c:showSerName val="0"/>
              <c:showPercent val="0"/>
              <c:showBubbleSize val="0"/>
              <c:extLst>
                <c:ext xmlns:c15="http://schemas.microsoft.com/office/drawing/2012/chart" uri="{CE6537A1-D6FC-4f65-9D91-7224C49458BB}">
                  <c15:layout>
                    <c:manualLayout>
                      <c:w val="3.3277260796945839E-2"/>
                      <c:h val="2.6818608568267319E-2"/>
                    </c:manualLayout>
                  </c15:layout>
                </c:ext>
                <c:ext xmlns:c16="http://schemas.microsoft.com/office/drawing/2014/chart" uri="{C3380CC4-5D6E-409C-BE32-E72D297353CC}">
                  <c16:uniqueId val="{00000064-0A41-4C84-B2D0-826938544C46}"/>
                </c:ext>
              </c:extLst>
            </c:dLbl>
            <c:dLbl>
              <c:idx val="24"/>
              <c:layout>
                <c:manualLayout>
                  <c:x val="-6.8870523415977963E-4"/>
                  <c:y val="-8.6992401002983482E-3"/>
                </c:manualLayout>
              </c:layout>
              <c:showLegendKey val="0"/>
              <c:showVal val="1"/>
              <c:showCatName val="0"/>
              <c:showSerName val="0"/>
              <c:showPercent val="0"/>
              <c:showBubbleSize val="0"/>
              <c:extLst>
                <c:ext xmlns:c15="http://schemas.microsoft.com/office/drawing/2012/chart" uri="{CE6537A1-D6FC-4f65-9D91-7224C49458BB}">
                  <c15:layout>
                    <c:manualLayout>
                      <c:w val="3.3277260796945839E-2"/>
                      <c:h val="2.6818608568267319E-2"/>
                    </c:manualLayout>
                  </c15:layout>
                </c:ext>
                <c:ext xmlns:c16="http://schemas.microsoft.com/office/drawing/2014/chart" uri="{C3380CC4-5D6E-409C-BE32-E72D297353CC}">
                  <c16:uniqueId val="{00000065-0A41-4C84-B2D0-826938544C46}"/>
                </c:ext>
              </c:extLst>
            </c:dLbl>
            <c:dLbl>
              <c:idx val="25"/>
              <c:layout>
                <c:manualLayout>
                  <c:x val="0"/>
                  <c:y val="6.2111811367896088E-3"/>
                </c:manualLayout>
              </c:layout>
              <c:showLegendKey val="0"/>
              <c:showVal val="1"/>
              <c:showCatName val="0"/>
              <c:showSerName val="0"/>
              <c:showPercent val="0"/>
              <c:showBubbleSize val="0"/>
              <c:extLst>
                <c:ext xmlns:c15="http://schemas.microsoft.com/office/drawing/2012/chart" uri="{CE6537A1-D6FC-4f65-9D91-7224C49458BB}">
                  <c15:layout>
                    <c:manualLayout>
                      <c:w val="3.3277260796945839E-2"/>
                      <c:h val="2.6818608568267319E-2"/>
                    </c:manualLayout>
                  </c15:layout>
                </c:ext>
                <c:ext xmlns:c16="http://schemas.microsoft.com/office/drawing/2014/chart" uri="{C3380CC4-5D6E-409C-BE32-E72D297353CC}">
                  <c16:uniqueId val="{0000004E-0A41-4C84-B2D0-826938544C46}"/>
                </c:ext>
              </c:extLst>
            </c:dLbl>
            <c:dLbl>
              <c:idx val="26"/>
              <c:showLegendKey val="0"/>
              <c:showVal val="1"/>
              <c:showCatName val="0"/>
              <c:showSerName val="0"/>
              <c:showPercent val="0"/>
              <c:showBubbleSize val="0"/>
              <c:extLst>
                <c:ext xmlns:c15="http://schemas.microsoft.com/office/drawing/2012/chart" uri="{CE6537A1-D6FC-4f65-9D91-7224C49458BB}">
                  <c15:layout>
                    <c:manualLayout>
                      <c:w val="0"/>
                      <c:h val="0"/>
                    </c:manualLayout>
                  </c15:layout>
                </c:ext>
                <c:ext xmlns:c16="http://schemas.microsoft.com/office/drawing/2014/chart" uri="{C3380CC4-5D6E-409C-BE32-E72D297353CC}">
                  <c16:uniqueId val="{00000066-0A41-4C84-B2D0-826938544C46}"/>
                </c:ext>
              </c:extLst>
            </c:dLbl>
            <c:dLbl>
              <c:idx val="27"/>
              <c:showLegendKey val="0"/>
              <c:showVal val="1"/>
              <c:showCatName val="0"/>
              <c:showSerName val="0"/>
              <c:showPercent val="0"/>
              <c:showBubbleSize val="0"/>
              <c:extLst>
                <c:ext xmlns:c15="http://schemas.microsoft.com/office/drawing/2012/chart" uri="{CE6537A1-D6FC-4f65-9D91-7224C49458BB}">
                  <c15:layout>
                    <c:manualLayout>
                      <c:w val="3.3504696210494352E-2"/>
                      <c:h val="2.6818608568267319E-2"/>
                    </c:manualLayout>
                  </c15:layout>
                </c:ext>
                <c:ext xmlns:c16="http://schemas.microsoft.com/office/drawing/2014/chart" uri="{C3380CC4-5D6E-409C-BE32-E72D297353CC}">
                  <c16:uniqueId val="{00000067-0A41-4C84-B2D0-826938544C46}"/>
                </c:ext>
              </c:extLst>
            </c:dLbl>
            <c:dLbl>
              <c:idx val="28"/>
              <c:layout>
                <c:manualLayout>
                  <c:x val="-5.5096418732782371E-3"/>
                  <c:y val="6.2111811367895706E-3"/>
                </c:manualLayout>
              </c:layout>
              <c:showLegendKey val="0"/>
              <c:showVal val="1"/>
              <c:showCatName val="0"/>
              <c:showSerName val="0"/>
              <c:showPercent val="0"/>
              <c:showBubbleSize val="0"/>
              <c:extLst>
                <c:ext xmlns:c15="http://schemas.microsoft.com/office/drawing/2012/chart" uri="{CE6537A1-D6FC-4f65-9D91-7224C49458BB}">
                  <c15:layout>
                    <c:manualLayout>
                      <c:w val="3.3277260796945839E-2"/>
                      <c:h val="2.6818608568267319E-2"/>
                    </c:manualLayout>
                  </c15:layout>
                </c:ext>
                <c:ext xmlns:c16="http://schemas.microsoft.com/office/drawing/2014/chart" uri="{C3380CC4-5D6E-409C-BE32-E72D297353CC}">
                  <c16:uniqueId val="{00000068-0A41-4C84-B2D0-826938544C46}"/>
                </c:ext>
              </c:extLst>
            </c:dLbl>
            <c:dLbl>
              <c:idx val="29"/>
              <c:layout>
                <c:manualLayout>
                  <c:x val="1.2953732023166525E-2"/>
                  <c:y val="4.140787424526368E-3"/>
                </c:manualLayout>
              </c:layout>
              <c:showLegendKey val="0"/>
              <c:showVal val="1"/>
              <c:showCatName val="0"/>
              <c:showSerName val="0"/>
              <c:showPercent val="0"/>
              <c:showBubbleSize val="0"/>
              <c:extLst>
                <c:ext xmlns:c15="http://schemas.microsoft.com/office/drawing/2012/chart" uri="{CE6537A1-D6FC-4f65-9D91-7224C49458BB}">
                  <c15:layout>
                    <c:manualLayout>
                      <c:w val="3.6032081733584957E-2"/>
                      <c:h val="2.6818608568267319E-2"/>
                    </c:manualLayout>
                  </c15:layout>
                </c:ext>
                <c:ext xmlns:c16="http://schemas.microsoft.com/office/drawing/2014/chart" uri="{C3380CC4-5D6E-409C-BE32-E72D297353CC}">
                  <c16:uniqueId val="{00000069-0A41-4C84-B2D0-826938544C46}"/>
                </c:ext>
              </c:extLst>
            </c:dLbl>
            <c:dLbl>
              <c:idx val="30"/>
              <c:showLegendKey val="0"/>
              <c:showVal val="1"/>
              <c:showCatName val="0"/>
              <c:showSerName val="0"/>
              <c:showPercent val="0"/>
              <c:showBubbleSize val="0"/>
              <c:extLst>
                <c:ext xmlns:c15="http://schemas.microsoft.com/office/drawing/2012/chart" uri="{CE6537A1-D6FC-4f65-9D91-7224C49458BB}">
                  <c15:layout>
                    <c:manualLayout>
                      <c:w val="3.7061994316826094E-2"/>
                      <c:h val="2.6818608568267319E-2"/>
                    </c:manualLayout>
                  </c15:layout>
                </c:ext>
                <c:ext xmlns:c16="http://schemas.microsoft.com/office/drawing/2014/chart" uri="{C3380CC4-5D6E-409C-BE32-E72D297353CC}">
                  <c16:uniqueId val="{0000006A-0A41-4C84-B2D0-826938544C46}"/>
                </c:ext>
              </c:extLst>
            </c:dLbl>
            <c:dLbl>
              <c:idx val="31"/>
              <c:showLegendKey val="0"/>
              <c:showVal val="1"/>
              <c:showCatName val="0"/>
              <c:showSerName val="0"/>
              <c:showPercent val="0"/>
              <c:showBubbleSize val="0"/>
              <c:extLst>
                <c:ext xmlns:c15="http://schemas.microsoft.com/office/drawing/2012/chart" uri="{CE6537A1-D6FC-4f65-9D91-7224C49458BB}">
                  <c15:layout>
                    <c:manualLayout>
                      <c:w val="3.8666948656211363E-2"/>
                      <c:h val="2.6818608568267319E-2"/>
                    </c:manualLayout>
                  </c15:layout>
                </c:ext>
                <c:ext xmlns:c16="http://schemas.microsoft.com/office/drawing/2014/chart" uri="{C3380CC4-5D6E-409C-BE32-E72D297353CC}">
                  <c16:uniqueId val="{0000006B-0A41-4C84-B2D0-826938544C46}"/>
                </c:ext>
              </c:extLst>
            </c:dLbl>
            <c:dLbl>
              <c:idx val="32"/>
              <c:layout>
                <c:manualLayout>
                  <c:x val="-2.7548209366392196E-3"/>
                  <c:y val="6.2111811367896088E-3"/>
                </c:manualLayout>
              </c:layout>
              <c:showLegendKey val="0"/>
              <c:showVal val="1"/>
              <c:showCatName val="0"/>
              <c:showSerName val="0"/>
              <c:showPercent val="0"/>
              <c:showBubbleSize val="0"/>
              <c:extLst>
                <c:ext xmlns:c15="http://schemas.microsoft.com/office/drawing/2012/chart" uri="{CE6537A1-D6FC-4f65-9D91-7224C49458BB}">
                  <c15:layout>
                    <c:manualLayout>
                      <c:w val="3.7636927615453029E-2"/>
                      <c:h val="2.6818608568267319E-2"/>
                    </c:manualLayout>
                  </c15:layout>
                </c:ext>
                <c:ext xmlns:c16="http://schemas.microsoft.com/office/drawing/2014/chart" uri="{C3380CC4-5D6E-409C-BE32-E72D297353CC}">
                  <c16:uniqueId val="{0000006C-0A41-4C84-B2D0-826938544C46}"/>
                </c:ext>
              </c:extLst>
            </c:dLbl>
            <c:dLbl>
              <c:idx val="33"/>
              <c:showLegendKey val="0"/>
              <c:showVal val="1"/>
              <c:showCatName val="0"/>
              <c:showSerName val="0"/>
              <c:showPercent val="0"/>
              <c:showBubbleSize val="0"/>
              <c:extLst>
                <c:ext xmlns:c15="http://schemas.microsoft.com/office/drawing/2012/chart" uri="{CE6537A1-D6FC-4f65-9D91-7224C49458BB}">
                  <c15:layout>
                    <c:manualLayout>
                      <c:w val="3.3277260796945839E-2"/>
                      <c:h val="2.6818608568267319E-2"/>
                    </c:manualLayout>
                  </c15:layout>
                </c:ext>
                <c:ext xmlns:c16="http://schemas.microsoft.com/office/drawing/2014/chart" uri="{C3380CC4-5D6E-409C-BE32-E72D297353CC}">
                  <c16:uniqueId val="{0000006D-0A41-4C84-B2D0-826938544C46}"/>
                </c:ext>
              </c:extLst>
            </c:dLbl>
            <c:dLbl>
              <c:idx val="34"/>
              <c:showLegendKey val="0"/>
              <c:showVal val="1"/>
              <c:showCatName val="0"/>
              <c:showSerName val="0"/>
              <c:showPercent val="0"/>
              <c:showBubbleSize val="0"/>
              <c:extLst>
                <c:ext xmlns:c15="http://schemas.microsoft.com/office/drawing/2012/chart" uri="{CE6537A1-D6FC-4f65-9D91-7224C49458BB}">
                  <c15:layout>
                    <c:manualLayout>
                      <c:w val="3.3852194095572767E-2"/>
                      <c:h val="2.6818608568267319E-2"/>
                    </c:manualLayout>
                  </c15:layout>
                </c:ext>
                <c:ext xmlns:c16="http://schemas.microsoft.com/office/drawing/2014/chart" uri="{C3380CC4-5D6E-409C-BE32-E72D297353CC}">
                  <c16:uniqueId val="{0000006E-0A41-4C84-B2D0-826938544C46}"/>
                </c:ext>
              </c:extLst>
            </c:dLbl>
            <c:dLbl>
              <c:idx val="35"/>
              <c:layout>
                <c:manualLayout>
                  <c:x val="-1.0100893414627432E-16"/>
                  <c:y val="6.2111811367896088E-3"/>
                </c:manualLayout>
              </c:layout>
              <c:showLegendKey val="0"/>
              <c:showVal val="1"/>
              <c:showCatName val="0"/>
              <c:showSerName val="0"/>
              <c:showPercent val="0"/>
              <c:showBubbleSize val="0"/>
              <c:extLst>
                <c:ext xmlns:c15="http://schemas.microsoft.com/office/drawing/2012/chart" uri="{CE6537A1-D6FC-4f65-9D91-7224C49458BB}">
                  <c15:layout>
                    <c:manualLayout>
                      <c:w val="3.407962950912128E-2"/>
                      <c:h val="2.6818608568267319E-2"/>
                    </c:manualLayout>
                  </c15:layout>
                </c:ext>
                <c:ext xmlns:c16="http://schemas.microsoft.com/office/drawing/2014/chart" uri="{C3380CC4-5D6E-409C-BE32-E72D297353CC}">
                  <c16:uniqueId val="{0000006F-0A41-4C84-B2D0-826938544C46}"/>
                </c:ext>
              </c:extLst>
            </c:dLbl>
            <c:dLbl>
              <c:idx val="36"/>
              <c:showLegendKey val="0"/>
              <c:showVal val="1"/>
              <c:showCatName val="0"/>
              <c:showSerName val="0"/>
              <c:showPercent val="0"/>
              <c:showBubbleSize val="0"/>
              <c:extLst>
                <c:ext xmlns:c15="http://schemas.microsoft.com/office/drawing/2012/chart" uri="{CE6537A1-D6FC-4f65-9D91-7224C49458BB}">
                  <c15:layout>
                    <c:manualLayout>
                      <c:w val="3.407962950912128E-2"/>
                      <c:h val="2.6818608568267319E-2"/>
                    </c:manualLayout>
                  </c15:layout>
                </c:ext>
                <c:ext xmlns:c16="http://schemas.microsoft.com/office/drawing/2014/chart" uri="{C3380CC4-5D6E-409C-BE32-E72D297353CC}">
                  <c16:uniqueId val="{00000070-0A41-4C84-B2D0-826938544C46}"/>
                </c:ext>
              </c:extLst>
            </c:dLbl>
            <c:dLbl>
              <c:idx val="37"/>
              <c:showLegendKey val="0"/>
              <c:showVal val="1"/>
              <c:showCatName val="0"/>
              <c:showSerName val="0"/>
              <c:showPercent val="0"/>
              <c:showBubbleSize val="0"/>
              <c:extLst>
                <c:ext xmlns:c15="http://schemas.microsoft.com/office/drawing/2012/chart" uri="{CE6537A1-D6FC-4f65-9D91-7224C49458BB}">
                  <c15:layout>
                    <c:manualLayout>
                      <c:w val="3.5684583848506535E-2"/>
                      <c:h val="2.6818608568267319E-2"/>
                    </c:manualLayout>
                  </c15:layout>
                </c:ext>
                <c:ext xmlns:c16="http://schemas.microsoft.com/office/drawing/2014/chart" uri="{C3380CC4-5D6E-409C-BE32-E72D297353CC}">
                  <c16:uniqueId val="{00000071-0A41-4C84-B2D0-826938544C46}"/>
                </c:ext>
              </c:extLst>
            </c:dLbl>
            <c:dLbl>
              <c:idx val="38"/>
              <c:showLegendKey val="0"/>
              <c:showVal val="1"/>
              <c:showCatName val="0"/>
              <c:showSerName val="0"/>
              <c:showPercent val="0"/>
              <c:showBubbleSize val="0"/>
              <c:extLst>
                <c:ext xmlns:c15="http://schemas.microsoft.com/office/drawing/2012/chart" uri="{CE6537A1-D6FC-4f65-9D91-7224C49458BB}">
                  <c15:layout>
                    <c:manualLayout>
                      <c:w val="3.7864471486518732E-2"/>
                      <c:h val="2.6818608568267319E-2"/>
                    </c:manualLayout>
                  </c15:layout>
                </c:ext>
                <c:ext xmlns:c16="http://schemas.microsoft.com/office/drawing/2014/chart" uri="{C3380CC4-5D6E-409C-BE32-E72D297353CC}">
                  <c16:uniqueId val="{00000072-0A41-4C84-B2D0-826938544C46}"/>
                </c:ext>
              </c:extLst>
            </c:dLbl>
            <c:dLbl>
              <c:idx val="39"/>
              <c:showLegendKey val="0"/>
              <c:showVal val="1"/>
              <c:showCatName val="0"/>
              <c:showSerName val="0"/>
              <c:showPercent val="0"/>
              <c:showBubbleSize val="0"/>
              <c:extLst>
                <c:ext xmlns:c15="http://schemas.microsoft.com/office/drawing/2012/chart" uri="{CE6537A1-D6FC-4f65-9D91-7224C49458BB}">
                  <c15:layout>
                    <c:manualLayout>
                      <c:w val="0"/>
                      <c:h val="0"/>
                    </c:manualLayout>
                  </c15:layout>
                </c:ext>
                <c:ext xmlns:c16="http://schemas.microsoft.com/office/drawing/2014/chart" uri="{C3380CC4-5D6E-409C-BE32-E72D297353CC}">
                  <c16:uniqueId val="{00000073-0A41-4C84-B2D0-826938544C46}"/>
                </c:ext>
              </c:extLst>
            </c:dLbl>
            <c:dLbl>
              <c:idx val="40"/>
              <c:showLegendKey val="0"/>
              <c:showVal val="1"/>
              <c:showCatName val="0"/>
              <c:showSerName val="0"/>
              <c:showPercent val="0"/>
              <c:showBubbleSize val="0"/>
              <c:extLst>
                <c:ext xmlns:c15="http://schemas.microsoft.com/office/drawing/2012/chart" uri="{CE6537A1-D6FC-4f65-9D91-7224C49458BB}">
                  <c15:layout>
                    <c:manualLayout>
                      <c:w val="3.5684583848506535E-2"/>
                      <c:h val="2.6818608568267319E-2"/>
                    </c:manualLayout>
                  </c15:layout>
                </c:ext>
                <c:ext xmlns:c16="http://schemas.microsoft.com/office/drawing/2014/chart" uri="{C3380CC4-5D6E-409C-BE32-E72D297353CC}">
                  <c16:uniqueId val="{00000074-0A41-4C84-B2D0-826938544C46}"/>
                </c:ext>
              </c:extLst>
            </c:dLbl>
            <c:dLbl>
              <c:idx val="41"/>
              <c:layout>
                <c:manualLayout>
                  <c:x val="-1.3773562395608631E-3"/>
                  <c:y val="8.281574849052736E-3"/>
                </c:manualLayout>
              </c:layout>
              <c:showLegendKey val="0"/>
              <c:showVal val="1"/>
              <c:showCatName val="0"/>
              <c:showSerName val="0"/>
              <c:showPercent val="0"/>
              <c:showBubbleSize val="0"/>
              <c:extLst>
                <c:ext xmlns:c15="http://schemas.microsoft.com/office/drawing/2012/chart" uri="{CE6537A1-D6FC-4f65-9D91-7224C49458BB}">
                  <c15:layout>
                    <c:manualLayout>
                      <c:w val="3.5804537862519248E-2"/>
                      <c:h val="2.6818608568267319E-2"/>
                    </c:manualLayout>
                  </c15:layout>
                </c:ext>
                <c:ext xmlns:c16="http://schemas.microsoft.com/office/drawing/2014/chart" uri="{C3380CC4-5D6E-409C-BE32-E72D297353CC}">
                  <c16:uniqueId val="{00000075-0A41-4C84-B2D0-826938544C46}"/>
                </c:ext>
              </c:extLst>
            </c:dLbl>
            <c:dLbl>
              <c:idx val="42"/>
              <c:showLegendKey val="0"/>
              <c:showVal val="1"/>
              <c:showCatName val="0"/>
              <c:showSerName val="0"/>
              <c:showPercent val="0"/>
              <c:showBubbleSize val="0"/>
              <c:extLst>
                <c:ext xmlns:c15="http://schemas.microsoft.com/office/drawing/2012/chart" uri="{CE6537A1-D6FC-4f65-9D91-7224C49458BB}">
                  <c15:layout>
                    <c:manualLayout>
                      <c:w val="3.6834450445760399E-2"/>
                      <c:h val="2.6818608568267319E-2"/>
                    </c:manualLayout>
                  </c15:layout>
                </c:ext>
                <c:ext xmlns:c16="http://schemas.microsoft.com/office/drawing/2014/chart" uri="{C3380CC4-5D6E-409C-BE32-E72D297353CC}">
                  <c16:uniqueId val="{00000076-0A41-4C84-B2D0-826938544C46}"/>
                </c:ext>
              </c:extLst>
            </c:dLbl>
            <c:dLbl>
              <c:idx val="43"/>
              <c:showLegendKey val="0"/>
              <c:showVal val="1"/>
              <c:showCatName val="0"/>
              <c:showSerName val="0"/>
              <c:showPercent val="0"/>
              <c:showBubbleSize val="0"/>
              <c:extLst>
                <c:ext xmlns:c15="http://schemas.microsoft.com/office/drawing/2012/chart" uri="{CE6537A1-D6FC-4f65-9D91-7224C49458BB}">
                  <c15:layout>
                    <c:manualLayout>
                      <c:w val="3.7061994316826094E-2"/>
                      <c:h val="2.6818608568267319E-2"/>
                    </c:manualLayout>
                  </c15:layout>
                </c:ext>
                <c:ext xmlns:c16="http://schemas.microsoft.com/office/drawing/2014/chart" uri="{C3380CC4-5D6E-409C-BE32-E72D297353CC}">
                  <c16:uniqueId val="{00000077-0A41-4C84-B2D0-826938544C46}"/>
                </c:ext>
              </c:extLst>
            </c:dLbl>
            <c:dLbl>
              <c:idx val="44"/>
              <c:layout>
                <c:manualLayout>
                  <c:x val="2.7548751653976161E-3"/>
                  <c:y val="6.2111811367896088E-3"/>
                </c:manualLayout>
              </c:layout>
              <c:showLegendKey val="0"/>
              <c:showVal val="1"/>
              <c:showCatName val="0"/>
              <c:showSerName val="0"/>
              <c:showPercent val="0"/>
              <c:showBubbleSize val="0"/>
              <c:extLst>
                <c:ext xmlns:c15="http://schemas.microsoft.com/office/drawing/2012/chart" uri="{CE6537A1-D6FC-4f65-9D91-7224C49458BB}">
                  <c15:layout>
                    <c:manualLayout>
                      <c:w val="3.6834450445760399E-2"/>
                      <c:h val="2.6818608568267319E-2"/>
                    </c:manualLayout>
                  </c15:layout>
                </c:ext>
                <c:ext xmlns:c16="http://schemas.microsoft.com/office/drawing/2014/chart" uri="{C3380CC4-5D6E-409C-BE32-E72D297353CC}">
                  <c16:uniqueId val="{00000078-0A41-4C84-B2D0-826938544C46}"/>
                </c:ext>
              </c:extLst>
            </c:dLbl>
            <c:dLbl>
              <c:idx val="45"/>
              <c:showLegendKey val="0"/>
              <c:showVal val="1"/>
              <c:showCatName val="0"/>
              <c:showSerName val="0"/>
              <c:showPercent val="0"/>
              <c:showBubbleSize val="0"/>
              <c:extLst>
                <c:ext xmlns:c15="http://schemas.microsoft.com/office/drawing/2012/chart" uri="{CE6537A1-D6FC-4f65-9D91-7224C49458BB}">
                  <c15:layout>
                    <c:manualLayout>
                      <c:w val="3.3277260796945839E-2"/>
                      <c:h val="2.6818608568267319E-2"/>
                    </c:manualLayout>
                  </c15:layout>
                </c:ext>
                <c:ext xmlns:c16="http://schemas.microsoft.com/office/drawing/2014/chart" uri="{C3380CC4-5D6E-409C-BE32-E72D297353CC}">
                  <c16:uniqueId val="{00000079-0A41-4C84-B2D0-826938544C46}"/>
                </c:ext>
              </c:extLst>
            </c:dLbl>
            <c:dLbl>
              <c:idx val="46"/>
              <c:showLegendKey val="0"/>
              <c:showVal val="1"/>
              <c:showCatName val="0"/>
              <c:showSerName val="0"/>
              <c:showPercent val="0"/>
              <c:showBubbleSize val="0"/>
              <c:extLst>
                <c:ext xmlns:c15="http://schemas.microsoft.com/office/drawing/2012/chart" uri="{CE6537A1-D6FC-4f65-9D91-7224C49458BB}">
                  <c15:layout>
                    <c:manualLayout>
                      <c:w val="3.2702219040801721E-2"/>
                      <c:h val="2.6818608568267319E-2"/>
                    </c:manualLayout>
                  </c15:layout>
                </c:ext>
                <c:ext xmlns:c16="http://schemas.microsoft.com/office/drawing/2014/chart" uri="{C3380CC4-5D6E-409C-BE32-E72D297353CC}">
                  <c16:uniqueId val="{0000007A-0A41-4C84-B2D0-826938544C46}"/>
                </c:ext>
              </c:extLst>
            </c:dLbl>
            <c:dLbl>
              <c:idx val="47"/>
              <c:showLegendKey val="0"/>
              <c:showVal val="1"/>
              <c:showCatName val="0"/>
              <c:showSerName val="0"/>
              <c:showPercent val="0"/>
              <c:showBubbleSize val="0"/>
              <c:extLst>
                <c:ext xmlns:c15="http://schemas.microsoft.com/office/drawing/2012/chart" uri="{CE6537A1-D6FC-4f65-9D91-7224C49458BB}">
                  <c15:layout>
                    <c:manualLayout>
                      <c:w val="3.7061994316826094E-2"/>
                      <c:h val="2.6818608568267319E-2"/>
                    </c:manualLayout>
                  </c15:layout>
                </c:ext>
                <c:ext xmlns:c16="http://schemas.microsoft.com/office/drawing/2014/chart" uri="{C3380CC4-5D6E-409C-BE32-E72D297353CC}">
                  <c16:uniqueId val="{0000007B-0A41-4C84-B2D0-826938544C46}"/>
                </c:ext>
              </c:extLst>
            </c:dLbl>
            <c:dLbl>
              <c:idx val="48"/>
              <c:showLegendKey val="0"/>
              <c:showVal val="1"/>
              <c:showCatName val="0"/>
              <c:showSerName val="0"/>
              <c:showPercent val="0"/>
              <c:showBubbleSize val="0"/>
              <c:extLst>
                <c:ext xmlns:c15="http://schemas.microsoft.com/office/drawing/2012/chart" uri="{CE6537A1-D6FC-4f65-9D91-7224C49458BB}">
                  <c15:layout>
                    <c:manualLayout>
                      <c:w val="3.407962950912128E-2"/>
                      <c:h val="2.6818608568267319E-2"/>
                    </c:manualLayout>
                  </c15:layout>
                </c:ext>
                <c:ext xmlns:c16="http://schemas.microsoft.com/office/drawing/2014/chart" uri="{C3380CC4-5D6E-409C-BE32-E72D297353CC}">
                  <c16:uniqueId val="{0000007C-0A41-4C84-B2D0-826938544C46}"/>
                </c:ext>
              </c:extLst>
            </c:dLbl>
            <c:spPr>
              <a:solidFill>
                <a:schemeClr val="bg1"/>
              </a:solidFill>
              <a:ln>
                <a:noFill/>
              </a:ln>
              <a:effectLst/>
            </c:spPr>
            <c:txPr>
              <a:bodyPr rot="0" spcFirstLastPara="1" vertOverflow="clip" horzOverflow="clip" vert="horz" wrap="square" lIns="38100" tIns="19050" rIns="38100" bIns="19050" anchor="t" anchorCtr="0">
                <a:no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'Discharge Graph'!$A$3:$A$51</c:f>
              <c:strCache>
                <c:ptCount val="49"/>
                <c:pt idx="0">
                  <c:v>__</c:v>
                </c:pt>
                <c:pt idx="1">
                  <c:v>Jan</c:v>
                </c:pt>
                <c:pt idx="2">
                  <c:v>Feb</c:v>
                </c:pt>
                <c:pt idx="3">
                  <c:v>Mar</c:v>
                </c:pt>
                <c:pt idx="4">
                  <c:v>Apr</c:v>
                </c:pt>
                <c:pt idx="5">
                  <c:v>May</c:v>
                </c:pt>
                <c:pt idx="6">
                  <c:v>Jun</c:v>
                </c:pt>
                <c:pt idx="7">
                  <c:v>Jul</c:v>
                </c:pt>
                <c:pt idx="8">
                  <c:v>Aug</c:v>
                </c:pt>
                <c:pt idx="9">
                  <c:v>Sep</c:v>
                </c:pt>
                <c:pt idx="10">
                  <c:v>Oct</c:v>
                </c:pt>
                <c:pt idx="11">
                  <c:v>Nov</c:v>
                </c:pt>
                <c:pt idx="12">
                  <c:v>Dec</c:v>
                </c:pt>
                <c:pt idx="13">
                  <c:v>__</c:v>
                </c:pt>
                <c:pt idx="14">
                  <c:v>Jan</c:v>
                </c:pt>
                <c:pt idx="15">
                  <c:v>Feb</c:v>
                </c:pt>
                <c:pt idx="16">
                  <c:v>Mar</c:v>
                </c:pt>
                <c:pt idx="17">
                  <c:v>Apr</c:v>
                </c:pt>
                <c:pt idx="18">
                  <c:v>May</c:v>
                </c:pt>
                <c:pt idx="19">
                  <c:v>Jun</c:v>
                </c:pt>
                <c:pt idx="20">
                  <c:v>Jul</c:v>
                </c:pt>
                <c:pt idx="21">
                  <c:v>Aug</c:v>
                </c:pt>
                <c:pt idx="22">
                  <c:v>Sep</c:v>
                </c:pt>
                <c:pt idx="23">
                  <c:v>Oct</c:v>
                </c:pt>
                <c:pt idx="24">
                  <c:v>Nov</c:v>
                </c:pt>
                <c:pt idx="25">
                  <c:v>Dec</c:v>
                </c:pt>
                <c:pt idx="26">
                  <c:v>__</c:v>
                </c:pt>
                <c:pt idx="27">
                  <c:v>Jan</c:v>
                </c:pt>
                <c:pt idx="28">
                  <c:v>Feb</c:v>
                </c:pt>
                <c:pt idx="29">
                  <c:v>Mar</c:v>
                </c:pt>
                <c:pt idx="30">
                  <c:v>Apr</c:v>
                </c:pt>
                <c:pt idx="31">
                  <c:v>May</c:v>
                </c:pt>
                <c:pt idx="32">
                  <c:v>Jun</c:v>
                </c:pt>
                <c:pt idx="33">
                  <c:v>Jul</c:v>
                </c:pt>
                <c:pt idx="34">
                  <c:v>Aug</c:v>
                </c:pt>
                <c:pt idx="35">
                  <c:v>Sep</c:v>
                </c:pt>
                <c:pt idx="36">
                  <c:v>Oct</c:v>
                </c:pt>
                <c:pt idx="37">
                  <c:v>Nov</c:v>
                </c:pt>
                <c:pt idx="38">
                  <c:v>Dec</c:v>
                </c:pt>
                <c:pt idx="39">
                  <c:v>__</c:v>
                </c:pt>
                <c:pt idx="40">
                  <c:v>Jan</c:v>
                </c:pt>
                <c:pt idx="41">
                  <c:v>Feb</c:v>
                </c:pt>
                <c:pt idx="42">
                  <c:v>Mar</c:v>
                </c:pt>
                <c:pt idx="43">
                  <c:v>Apr</c:v>
                </c:pt>
                <c:pt idx="44">
                  <c:v>May</c:v>
                </c:pt>
                <c:pt idx="45">
                  <c:v>Jun</c:v>
                </c:pt>
                <c:pt idx="46">
                  <c:v>Jul</c:v>
                </c:pt>
                <c:pt idx="47">
                  <c:v>Aug</c:v>
                </c:pt>
                <c:pt idx="48">
                  <c:v>Sep</c:v>
                </c:pt>
              </c:strCache>
            </c:strRef>
          </c:cat>
          <c:val>
            <c:numRef>
              <c:f>'Discharge Graph'!$C$3:$C$51</c:f>
              <c:numCache>
                <c:formatCode>0%</c:formatCode>
                <c:ptCount val="49"/>
                <c:pt idx="1">
                  <c:v>0.14000000000000001</c:v>
                </c:pt>
                <c:pt idx="2">
                  <c:v>0.4</c:v>
                </c:pt>
                <c:pt idx="3">
                  <c:v>0.06</c:v>
                </c:pt>
                <c:pt idx="4">
                  <c:v>0.19</c:v>
                </c:pt>
                <c:pt idx="5">
                  <c:v>0.31</c:v>
                </c:pt>
                <c:pt idx="6">
                  <c:v>0.24</c:v>
                </c:pt>
                <c:pt idx="7">
                  <c:v>0.26</c:v>
                </c:pt>
                <c:pt idx="8">
                  <c:v>0.19</c:v>
                </c:pt>
                <c:pt idx="9">
                  <c:v>0.24</c:v>
                </c:pt>
                <c:pt idx="10">
                  <c:v>0.55000000000000004</c:v>
                </c:pt>
                <c:pt idx="11">
                  <c:v>0.44</c:v>
                </c:pt>
                <c:pt idx="12">
                  <c:v>0.34</c:v>
                </c:pt>
                <c:pt idx="14">
                  <c:v>0.48</c:v>
                </c:pt>
                <c:pt idx="15">
                  <c:v>0.67</c:v>
                </c:pt>
                <c:pt idx="16">
                  <c:v>0.3888888888888889</c:v>
                </c:pt>
                <c:pt idx="17">
                  <c:v>0.36842105263157893</c:v>
                </c:pt>
                <c:pt idx="18">
                  <c:v>0.41791044776119401</c:v>
                </c:pt>
                <c:pt idx="19">
                  <c:v>0.41666666666666669</c:v>
                </c:pt>
                <c:pt idx="20">
                  <c:v>0.36</c:v>
                </c:pt>
                <c:pt idx="21">
                  <c:v>0.44615384615384618</c:v>
                </c:pt>
                <c:pt idx="22">
                  <c:v>0.41176470588235292</c:v>
                </c:pt>
                <c:pt idx="23">
                  <c:v>0.39655172413793105</c:v>
                </c:pt>
                <c:pt idx="24">
                  <c:v>0.39436619718309857</c:v>
                </c:pt>
                <c:pt idx="25">
                  <c:v>0.40298507462686567</c:v>
                </c:pt>
                <c:pt idx="27">
                  <c:v>0.5168539325842697</c:v>
                </c:pt>
                <c:pt idx="28">
                  <c:v>0.43478260869565216</c:v>
                </c:pt>
                <c:pt idx="29">
                  <c:v>0.5</c:v>
                </c:pt>
                <c:pt idx="30">
                  <c:v>0.4157303370786517</c:v>
                </c:pt>
                <c:pt idx="31">
                  <c:v>0.35294117647058826</c:v>
                </c:pt>
                <c:pt idx="32">
                  <c:v>0.33333333333333331</c:v>
                </c:pt>
                <c:pt idx="33">
                  <c:v>0.36764705882352944</c:v>
                </c:pt>
                <c:pt idx="34">
                  <c:v>0.33750000000000002</c:v>
                </c:pt>
                <c:pt idx="35">
                  <c:v>0.42307692307692307</c:v>
                </c:pt>
                <c:pt idx="36">
                  <c:v>0.30555555555555558</c:v>
                </c:pt>
                <c:pt idx="37">
                  <c:v>0.24</c:v>
                </c:pt>
                <c:pt idx="38">
                  <c:v>0.16666666666666666</c:v>
                </c:pt>
                <c:pt idx="40">
                  <c:v>0.4044943820224719</c:v>
                </c:pt>
                <c:pt idx="41">
                  <c:v>0.30434782608695654</c:v>
                </c:pt>
                <c:pt idx="42">
                  <c:v>0.31182795698924731</c:v>
                </c:pt>
                <c:pt idx="43">
                  <c:v>0.37864077669902912</c:v>
                </c:pt>
                <c:pt idx="44">
                  <c:v>0.36249999999999999</c:v>
                </c:pt>
                <c:pt idx="45">
                  <c:v>0.33695652173913043</c:v>
                </c:pt>
                <c:pt idx="46">
                  <c:v>0.26041666666666669</c:v>
                </c:pt>
                <c:pt idx="47">
                  <c:v>0.38372093023255816</c:v>
                </c:pt>
                <c:pt idx="48">
                  <c:v>0.28985507246376813</c:v>
                </c:pt>
              </c:numCache>
            </c:numRef>
          </c:val>
          <c:extLst>
            <c:ext xmlns:c16="http://schemas.microsoft.com/office/drawing/2014/chart" uri="{C3380CC4-5D6E-409C-BE32-E72D297353CC}">
              <c16:uniqueId val="{0000007D-0A41-4C84-B2D0-826938544C46}"/>
            </c:ext>
          </c:extLst>
        </c:ser>
        <c:dLbls>
          <c:showLegendKey val="0"/>
          <c:showVal val="0"/>
          <c:showCatName val="0"/>
          <c:showSerName val="0"/>
          <c:showPercent val="0"/>
          <c:showBubbleSize val="0"/>
        </c:dLbls>
        <c:gapWidth val="150"/>
        <c:shape val="box"/>
        <c:axId val="622950096"/>
        <c:axId val="622948176"/>
        <c:axId val="0"/>
      </c:bar3DChart>
      <c:catAx>
        <c:axId val="62295009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b="1" dirty="0">
                    <a:solidFill>
                      <a:schemeClr val="tx1">
                        <a:lumMod val="85000"/>
                        <a:lumOff val="15000"/>
                      </a:schemeClr>
                    </a:solidFill>
                  </a:rPr>
                  <a:t>2022 </a:t>
                </a:r>
                <a:r>
                  <a:rPr lang="en-US" sz="1600" b="1" dirty="0">
                    <a:solidFill>
                      <a:schemeClr val="bg1"/>
                    </a:solidFill>
                  </a:rPr>
                  <a:t>--------------------------------------</a:t>
                </a:r>
                <a:r>
                  <a:rPr lang="en-US" sz="1600" b="1" dirty="0">
                    <a:solidFill>
                      <a:schemeClr val="tx1">
                        <a:lumMod val="85000"/>
                        <a:lumOff val="15000"/>
                      </a:schemeClr>
                    </a:solidFill>
                  </a:rPr>
                  <a:t>2023</a:t>
                </a:r>
                <a:r>
                  <a:rPr lang="en-US" sz="1600" b="1" dirty="0">
                    <a:solidFill>
                      <a:schemeClr val="bg1"/>
                    </a:solidFill>
                  </a:rPr>
                  <a:t>---------------------------</a:t>
                </a:r>
                <a:r>
                  <a:rPr lang="en-US" sz="1600" b="1" dirty="0">
                    <a:solidFill>
                      <a:schemeClr val="tx1">
                        <a:lumMod val="85000"/>
                        <a:lumOff val="15000"/>
                      </a:schemeClr>
                    </a:solidFill>
                  </a:rPr>
                  <a:t>2024</a:t>
                </a:r>
                <a:r>
                  <a:rPr lang="en-US" sz="1600" b="1" dirty="0">
                    <a:solidFill>
                      <a:schemeClr val="bg1"/>
                    </a:solidFill>
                  </a:rPr>
                  <a:t>-------------------</a:t>
                </a:r>
                <a:r>
                  <a:rPr lang="en-US" sz="1600" b="1" baseline="0" dirty="0">
                    <a:solidFill>
                      <a:schemeClr val="bg1"/>
                    </a:solidFill>
                  </a:rPr>
                  <a:t>  </a:t>
                </a:r>
                <a:r>
                  <a:rPr lang="en-US" sz="1600" b="1" dirty="0">
                    <a:solidFill>
                      <a:schemeClr val="tx1">
                        <a:lumMod val="85000"/>
                        <a:lumOff val="15000"/>
                      </a:schemeClr>
                    </a:solidFill>
                  </a:rPr>
                  <a:t>2025 </a:t>
                </a:r>
                <a:r>
                  <a:rPr lang="en-US" sz="1600" b="1" dirty="0">
                    <a:solidFill>
                      <a:schemeClr val="bg1"/>
                    </a:solidFill>
                  </a:rPr>
                  <a:t>----------------  </a:t>
                </a:r>
                <a:r>
                  <a:rPr lang="en-US" sz="1600" b="1" dirty="0">
                    <a:solidFill>
                      <a:schemeClr val="tx1">
                        <a:lumMod val="85000"/>
                        <a:lumOff val="15000"/>
                      </a:schemeClr>
                    </a:solidFill>
                  </a:rPr>
                  <a:t>          </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5400000" spcFirstLastPara="1" vertOverflow="ellipsis" wrap="square" anchor="ctr" anchorCtr="1"/>
          <a:lstStyle/>
          <a:p>
            <a:pPr>
              <a:defRPr sz="900" b="0" i="0" u="none" strike="noStrike" kern="1200" baseline="0">
                <a:solidFill>
                  <a:schemeClr val="tx1">
                    <a:lumMod val="85000"/>
                    <a:lumOff val="15000"/>
                  </a:schemeClr>
                </a:solidFill>
                <a:latin typeface="+mn-lt"/>
                <a:ea typeface="+mn-ea"/>
                <a:cs typeface="+mn-cs"/>
              </a:defRPr>
            </a:pPr>
            <a:endParaRPr lang="en-US"/>
          </a:p>
        </c:txPr>
        <c:crossAx val="622948176"/>
        <c:crosses val="autoZero"/>
        <c:auto val="1"/>
        <c:lblAlgn val="ctr"/>
        <c:lblOffset val="100"/>
        <c:noMultiLvlLbl val="0"/>
      </c:catAx>
      <c:valAx>
        <c:axId val="622948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1">
                        <a:lumMod val="85000"/>
                        <a:lumOff val="15000"/>
                      </a:schemeClr>
                    </a:solidFill>
                    <a:latin typeface="+mn-lt"/>
                    <a:ea typeface="+mn-ea"/>
                    <a:cs typeface="+mn-cs"/>
                  </a:defRPr>
                </a:pPr>
                <a:r>
                  <a:rPr lang="en-US" sz="1200" b="1">
                    <a:solidFill>
                      <a:schemeClr val="tx1">
                        <a:lumMod val="85000"/>
                        <a:lumOff val="15000"/>
                      </a:schemeClr>
                    </a:solidFill>
                  </a:rPr>
                  <a:t>Volume</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85000"/>
                      <a:lumOff val="1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50" b="0" i="0" u="none" strike="noStrike" kern="1200" baseline="0">
                <a:solidFill>
                  <a:schemeClr val="tx1">
                    <a:lumMod val="65000"/>
                    <a:lumOff val="35000"/>
                  </a:schemeClr>
                </a:solidFill>
                <a:latin typeface="+mn-lt"/>
                <a:ea typeface="+mn-ea"/>
                <a:cs typeface="+mn-cs"/>
              </a:defRPr>
            </a:pPr>
            <a:endParaRPr lang="en-US"/>
          </a:p>
        </c:txPr>
        <c:crossAx val="622950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[Venice Ortho Data.xlsx]RTC Pivot!PivotTable8</c:name>
    <c:fmtId val="1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000" b="1" i="0" u="none" strike="noStrike" kern="1200" spc="0" baseline="0">
                <a:solidFill>
                  <a:sysClr val="windowText" lastClr="000000">
                    <a:lumMod val="65000"/>
                    <a:lumOff val="35000"/>
                  </a:sysClr>
                </a:solidFill>
                <a:effectLst/>
                <a:latin typeface="+mn-lt"/>
                <a:ea typeface="+mn-ea"/>
                <a:cs typeface="+mn-cs"/>
              </a:rPr>
              <a:t>Room to Car 2023-2025</a:t>
            </a:r>
            <a:br>
              <a:rPr lang="en-US" sz="2000" b="1" i="0" u="none" strike="noStrike" baseline="0">
                <a:effectLst/>
              </a:rPr>
            </a:br>
            <a:r>
              <a:rPr lang="en-US" sz="2000" b="0" i="0" u="none" strike="noStrike" baseline="0">
                <a:effectLst/>
              </a:rPr>
              <a:t>633 RTCs</a:t>
            </a:r>
            <a:endParaRPr lang="en-US" sz="2000" b="0" u="none"/>
          </a:p>
        </c:rich>
      </c:tx>
      <c:layout>
        <c:manualLayout>
          <c:xMode val="edge"/>
          <c:yMode val="edge"/>
          <c:x val="0.34521307651630945"/>
          <c:y val="2.775135387283726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pivotFmt>
      <c:pivotFmt>
        <c:idx val="2"/>
        <c:spPr>
          <a:solidFill>
            <a:schemeClr val="accent3"/>
          </a:solidFill>
          <a:ln>
            <a:noFill/>
          </a:ln>
          <a:effectLst/>
        </c:spPr>
      </c:pivotFmt>
      <c:pivotFmt>
        <c:idx val="3"/>
        <c:spPr>
          <a:solidFill>
            <a:schemeClr val="accent3"/>
          </a:solidFill>
          <a:ln>
            <a:noFill/>
          </a:ln>
          <a:effectLst/>
        </c:spPr>
      </c:pivotFmt>
      <c:pivotFmt>
        <c:idx val="4"/>
        <c:spPr>
          <a:solidFill>
            <a:schemeClr val="accent3"/>
          </a:solidFill>
          <a:ln>
            <a:noFill/>
          </a:ln>
          <a:effectLst/>
        </c:spPr>
      </c:pivotFmt>
      <c:pivotFmt>
        <c:idx val="5"/>
        <c:spPr>
          <a:solidFill>
            <a:schemeClr val="accent3"/>
          </a:solidFill>
          <a:ln>
            <a:noFill/>
          </a:ln>
          <a:effectLst/>
        </c:spPr>
      </c:pivotFmt>
      <c:pivotFmt>
        <c:idx val="6"/>
        <c:spPr>
          <a:solidFill>
            <a:schemeClr val="accent3"/>
          </a:solidFill>
          <a:ln>
            <a:noFill/>
          </a:ln>
          <a:effectLst/>
        </c:spPr>
      </c:pivotFmt>
      <c:pivotFmt>
        <c:idx val="7"/>
        <c:spPr>
          <a:solidFill>
            <a:schemeClr val="accent3"/>
          </a:solidFill>
          <a:ln>
            <a:noFill/>
          </a:ln>
          <a:effectLst/>
        </c:spPr>
      </c:pivotFmt>
      <c:pivotFmt>
        <c:idx val="8"/>
        <c:spPr>
          <a:solidFill>
            <a:schemeClr val="accent3"/>
          </a:solidFill>
          <a:ln>
            <a:noFill/>
          </a:ln>
          <a:effectLst/>
        </c:spPr>
      </c:pivotFmt>
      <c:pivotFmt>
        <c:idx val="9"/>
        <c:spPr>
          <a:solidFill>
            <a:schemeClr val="accent3"/>
          </a:solidFill>
          <a:ln>
            <a:noFill/>
          </a:ln>
          <a:effectLst/>
        </c:spPr>
      </c:pivotFmt>
      <c:pivotFmt>
        <c:idx val="10"/>
        <c:spPr>
          <a:solidFill>
            <a:srgbClr val="FFC000"/>
          </a:solidFill>
          <a:ln>
            <a:noFill/>
          </a:ln>
          <a:effectLst/>
        </c:spPr>
      </c:pivotFmt>
      <c:pivotFmt>
        <c:idx val="11"/>
        <c:spPr>
          <a:solidFill>
            <a:srgbClr val="FFC000"/>
          </a:solidFill>
          <a:ln>
            <a:noFill/>
          </a:ln>
          <a:effectLst/>
        </c:spPr>
      </c:pivotFmt>
      <c:pivotFmt>
        <c:idx val="12"/>
        <c:spPr>
          <a:solidFill>
            <a:srgbClr val="FFC000"/>
          </a:solidFill>
          <a:ln>
            <a:noFill/>
          </a:ln>
          <a:effectLst/>
        </c:spPr>
      </c:pivotFmt>
      <c:pivotFmt>
        <c:idx val="13"/>
        <c:spPr>
          <a:solidFill>
            <a:srgbClr val="FFC000"/>
          </a:solidFill>
          <a:ln>
            <a:noFill/>
          </a:ln>
          <a:effectLst/>
        </c:spPr>
      </c:pivotFmt>
      <c:pivotFmt>
        <c:idx val="14"/>
        <c:spPr>
          <a:solidFill>
            <a:schemeClr val="accent3"/>
          </a:solidFill>
          <a:ln>
            <a:noFill/>
          </a:ln>
          <a:effectLst/>
        </c:spPr>
      </c:pivotFmt>
      <c:pivotFmt>
        <c:idx val="15"/>
        <c:spPr>
          <a:solidFill>
            <a:schemeClr val="accent3"/>
          </a:solidFill>
          <a:ln>
            <a:noFill/>
          </a:ln>
          <a:effectLst/>
        </c:spPr>
      </c:pivotFmt>
      <c:pivotFmt>
        <c:idx val="16"/>
        <c:spPr>
          <a:solidFill>
            <a:schemeClr val="accent3"/>
          </a:solidFill>
          <a:ln>
            <a:noFill/>
          </a:ln>
          <a:effectLst/>
        </c:spPr>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8"/>
        <c:spPr>
          <a:solidFill>
            <a:srgbClr val="FFC000"/>
          </a:solidFill>
          <a:ln>
            <a:noFill/>
          </a:ln>
          <a:effectLst/>
        </c:spPr>
      </c:pivotFmt>
      <c:pivotFmt>
        <c:idx val="19"/>
        <c:spPr>
          <a:solidFill>
            <a:srgbClr val="FFC000"/>
          </a:solidFill>
          <a:ln>
            <a:noFill/>
          </a:ln>
          <a:effectLst/>
        </c:spPr>
      </c:pivotFmt>
      <c:pivotFmt>
        <c:idx val="20"/>
        <c:spPr>
          <a:solidFill>
            <a:srgbClr val="FFC000"/>
          </a:solidFill>
          <a:ln>
            <a:noFill/>
          </a:ln>
          <a:effectLst/>
        </c:spPr>
      </c:pivotFmt>
      <c:pivotFmt>
        <c:idx val="21"/>
        <c:spPr>
          <a:solidFill>
            <a:srgbClr val="FFC000"/>
          </a:solidFill>
          <a:ln>
            <a:noFill/>
          </a:ln>
          <a:effectLst/>
        </c:spPr>
      </c:pivotFmt>
      <c:pivotFmt>
        <c:idx val="22"/>
        <c:spPr>
          <a:solidFill>
            <a:schemeClr val="accent3"/>
          </a:solidFill>
          <a:ln>
            <a:noFill/>
          </a:ln>
          <a:effectLst/>
        </c:spPr>
      </c:pivotFmt>
      <c:pivotFmt>
        <c:idx val="23"/>
        <c:spPr>
          <a:solidFill>
            <a:schemeClr val="accent3"/>
          </a:solidFill>
          <a:ln>
            <a:noFill/>
          </a:ln>
          <a:effectLst/>
        </c:spPr>
      </c:pivotFmt>
      <c:pivotFmt>
        <c:idx val="24"/>
        <c:spPr>
          <a:solidFill>
            <a:schemeClr val="accent3"/>
          </a:solidFill>
          <a:ln>
            <a:noFill/>
          </a:ln>
          <a:effectLst/>
        </c:spPr>
      </c:pivotFmt>
      <c:pivotFmt>
        <c:idx val="25"/>
        <c:spPr>
          <a:solidFill>
            <a:schemeClr val="accent3"/>
          </a:solidFill>
          <a:ln>
            <a:noFill/>
          </a:ln>
          <a:effectLst/>
        </c:spPr>
      </c:pivotFmt>
      <c:pivotFmt>
        <c:idx val="26"/>
        <c:spPr>
          <a:solidFill>
            <a:schemeClr val="accent3"/>
          </a:solidFill>
          <a:ln>
            <a:noFill/>
          </a:ln>
          <a:effectLst/>
        </c:spPr>
      </c:pivotFmt>
      <c:pivotFmt>
        <c:idx val="27"/>
        <c:spPr>
          <a:solidFill>
            <a:schemeClr val="accent3"/>
          </a:solidFill>
          <a:ln>
            <a:noFill/>
          </a:ln>
          <a:effectLst/>
        </c:spPr>
      </c:pivotFmt>
      <c:pivotFmt>
        <c:idx val="28"/>
        <c:spPr>
          <a:solidFill>
            <a:schemeClr val="accent3"/>
          </a:solidFill>
          <a:ln>
            <a:noFill/>
          </a:ln>
          <a:effectLst/>
        </c:spPr>
      </c:pivotFmt>
      <c:pivotFmt>
        <c:idx val="29"/>
        <c:spPr>
          <a:solidFill>
            <a:schemeClr val="accent3"/>
          </a:solidFill>
          <a:ln>
            <a:noFill/>
          </a:ln>
          <a:effectLst/>
        </c:spPr>
      </c:pivotFmt>
      <c:pivotFmt>
        <c:idx val="30"/>
        <c:spPr>
          <a:solidFill>
            <a:schemeClr val="accent3"/>
          </a:solidFill>
          <a:ln>
            <a:noFill/>
          </a:ln>
          <a:effectLst/>
        </c:spPr>
      </c:pivotFmt>
      <c:pivotFmt>
        <c:idx val="31"/>
        <c:spPr>
          <a:solidFill>
            <a:schemeClr val="accent3"/>
          </a:solidFill>
          <a:ln>
            <a:noFill/>
          </a:ln>
          <a:effectLst/>
        </c:spPr>
      </c:pivotFmt>
      <c:pivotFmt>
        <c:idx val="32"/>
        <c:spPr>
          <a:solidFill>
            <a:schemeClr val="accent3"/>
          </a:solidFill>
          <a:ln>
            <a:noFill/>
          </a:ln>
          <a:effectLst/>
        </c:spPr>
      </c:pivotFmt>
      <c:pivotFmt>
        <c:idx val="33"/>
        <c:spPr>
          <a:solidFill>
            <a:schemeClr val="accent3"/>
          </a:solidFill>
          <a:ln>
            <a:noFill/>
          </a:ln>
          <a:effectLst/>
        </c:spPr>
      </c:pivotFmt>
      <c:pivotFmt>
        <c:idx val="3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5"/>
        <c:spPr>
          <a:solidFill>
            <a:srgbClr val="FFC000"/>
          </a:solidFill>
          <a:ln>
            <a:noFill/>
          </a:ln>
          <a:effectLst/>
        </c:spPr>
      </c:pivotFmt>
      <c:pivotFmt>
        <c:idx val="36"/>
        <c:spPr>
          <a:solidFill>
            <a:srgbClr val="FFC000"/>
          </a:solidFill>
          <a:ln>
            <a:noFill/>
          </a:ln>
          <a:effectLst/>
        </c:spPr>
      </c:pivotFmt>
      <c:pivotFmt>
        <c:idx val="37"/>
        <c:spPr>
          <a:solidFill>
            <a:srgbClr val="FFC000"/>
          </a:solidFill>
          <a:ln>
            <a:noFill/>
          </a:ln>
          <a:effectLst/>
        </c:spPr>
      </c:pivotFmt>
      <c:pivotFmt>
        <c:idx val="38"/>
        <c:spPr>
          <a:solidFill>
            <a:srgbClr val="FFC000"/>
          </a:solidFill>
          <a:ln>
            <a:noFill/>
          </a:ln>
          <a:effectLst/>
        </c:spPr>
      </c:pivotFmt>
      <c:pivotFmt>
        <c:idx val="39"/>
        <c:spPr>
          <a:solidFill>
            <a:schemeClr val="accent3"/>
          </a:solidFill>
          <a:ln>
            <a:noFill/>
          </a:ln>
          <a:effectLst/>
        </c:spPr>
      </c:pivotFmt>
      <c:pivotFmt>
        <c:idx val="40"/>
        <c:spPr>
          <a:solidFill>
            <a:schemeClr val="accent3"/>
          </a:solidFill>
          <a:ln>
            <a:noFill/>
          </a:ln>
          <a:effectLst/>
        </c:spPr>
      </c:pivotFmt>
      <c:pivotFmt>
        <c:idx val="41"/>
        <c:spPr>
          <a:solidFill>
            <a:schemeClr val="accent3"/>
          </a:solidFill>
          <a:ln>
            <a:noFill/>
          </a:ln>
          <a:effectLst/>
        </c:spPr>
      </c:pivotFmt>
      <c:pivotFmt>
        <c:idx val="42"/>
        <c:spPr>
          <a:solidFill>
            <a:schemeClr val="accent3"/>
          </a:solidFill>
          <a:ln>
            <a:noFill/>
          </a:ln>
          <a:effectLst/>
        </c:spPr>
      </c:pivotFmt>
      <c:pivotFmt>
        <c:idx val="43"/>
        <c:spPr>
          <a:solidFill>
            <a:schemeClr val="accent3"/>
          </a:solidFill>
          <a:ln>
            <a:noFill/>
          </a:ln>
          <a:effectLst/>
        </c:spPr>
      </c:pivotFmt>
      <c:pivotFmt>
        <c:idx val="44"/>
        <c:spPr>
          <a:solidFill>
            <a:schemeClr val="accent3"/>
          </a:solidFill>
          <a:ln>
            <a:noFill/>
          </a:ln>
          <a:effectLst/>
        </c:spPr>
      </c:pivotFmt>
      <c:pivotFmt>
        <c:idx val="45"/>
        <c:spPr>
          <a:solidFill>
            <a:schemeClr val="accent3"/>
          </a:solidFill>
          <a:ln>
            <a:noFill/>
          </a:ln>
          <a:effectLst/>
        </c:spPr>
      </c:pivotFmt>
      <c:pivotFmt>
        <c:idx val="46"/>
        <c:spPr>
          <a:solidFill>
            <a:schemeClr val="accent3"/>
          </a:solidFill>
          <a:ln>
            <a:noFill/>
          </a:ln>
          <a:effectLst/>
        </c:spPr>
      </c:pivotFmt>
      <c:pivotFmt>
        <c:idx val="47"/>
        <c:spPr>
          <a:solidFill>
            <a:schemeClr val="accent3"/>
          </a:solidFill>
          <a:ln>
            <a:noFill/>
          </a:ln>
          <a:effectLst/>
        </c:spPr>
      </c:pivotFmt>
      <c:pivotFmt>
        <c:idx val="48"/>
        <c:spPr>
          <a:solidFill>
            <a:schemeClr val="accent3"/>
          </a:solidFill>
          <a:ln>
            <a:noFill/>
          </a:ln>
          <a:effectLst/>
        </c:spPr>
      </c:pivotFmt>
      <c:pivotFmt>
        <c:idx val="49"/>
        <c:spPr>
          <a:solidFill>
            <a:schemeClr val="accent3"/>
          </a:solidFill>
          <a:ln>
            <a:noFill/>
          </a:ln>
          <a:effectLst/>
        </c:spPr>
      </c:pivotFmt>
      <c:pivotFmt>
        <c:idx val="50"/>
        <c:spPr>
          <a:solidFill>
            <a:schemeClr val="accent3"/>
          </a:solidFill>
          <a:ln>
            <a:noFill/>
          </a:ln>
          <a:effectLst/>
        </c:spPr>
      </c:pivotFmt>
    </c:pivotFmts>
    <c:plotArea>
      <c:layout>
        <c:manualLayout>
          <c:layoutTarget val="inner"/>
          <c:xMode val="edge"/>
          <c:yMode val="edge"/>
          <c:x val="2.9400961494348624E-2"/>
          <c:y val="0.18944779158358022"/>
          <c:w val="0.95710624488406293"/>
          <c:h val="0.66143093124778429"/>
        </c:manualLayout>
      </c:layout>
      <c:barChart>
        <c:barDir val="col"/>
        <c:grouping val="clustered"/>
        <c:varyColors val="0"/>
        <c:ser>
          <c:idx val="0"/>
          <c:order val="0"/>
          <c:tx>
            <c:strRef>
              <c:f>'RTC Pivot'!$B$6</c:f>
              <c:strCache>
                <c:ptCount val="1"/>
                <c:pt idx="0">
                  <c:v>Total</c:v>
                </c:pt>
              </c:strCache>
            </c:strRef>
          </c:tx>
          <c:spPr>
            <a:solidFill>
              <a:schemeClr val="accent1"/>
            </a:solidFill>
            <a:ln>
              <a:noFill/>
            </a:ln>
            <a:effectLst/>
          </c:spPr>
          <c:invertIfNegative val="0"/>
          <c:dPt>
            <c:idx val="0"/>
            <c:invertIfNegative val="0"/>
            <c:bubble3D val="0"/>
            <c:spPr>
              <a:solidFill>
                <a:srgbClr val="FFC000"/>
              </a:solidFill>
              <a:ln>
                <a:noFill/>
              </a:ln>
              <a:effectLst/>
            </c:spPr>
            <c:extLst>
              <c:ext xmlns:c16="http://schemas.microsoft.com/office/drawing/2014/chart" uri="{C3380CC4-5D6E-409C-BE32-E72D297353CC}">
                <c16:uniqueId val="{00000001-A415-4059-87D8-705CDE3ED12A}"/>
              </c:ext>
            </c:extLst>
          </c:dPt>
          <c:dPt>
            <c:idx val="1"/>
            <c:invertIfNegative val="0"/>
            <c:bubble3D val="0"/>
            <c:spPr>
              <a:solidFill>
                <a:srgbClr val="FFC000"/>
              </a:solidFill>
              <a:ln>
                <a:noFill/>
              </a:ln>
              <a:effectLst/>
            </c:spPr>
            <c:extLst>
              <c:ext xmlns:c16="http://schemas.microsoft.com/office/drawing/2014/chart" uri="{C3380CC4-5D6E-409C-BE32-E72D297353CC}">
                <c16:uniqueId val="{00000003-A415-4059-87D8-705CDE3ED12A}"/>
              </c:ext>
            </c:extLst>
          </c:dPt>
          <c:dPt>
            <c:idx val="2"/>
            <c:invertIfNegative val="0"/>
            <c:bubble3D val="0"/>
            <c:spPr>
              <a:solidFill>
                <a:srgbClr val="FFC000"/>
              </a:solidFill>
              <a:ln>
                <a:noFill/>
              </a:ln>
              <a:effectLst/>
            </c:spPr>
            <c:extLst>
              <c:ext xmlns:c16="http://schemas.microsoft.com/office/drawing/2014/chart" uri="{C3380CC4-5D6E-409C-BE32-E72D297353CC}">
                <c16:uniqueId val="{00000005-A415-4059-87D8-705CDE3ED12A}"/>
              </c:ext>
            </c:extLst>
          </c:dPt>
          <c:dPt>
            <c:idx val="3"/>
            <c:invertIfNegative val="0"/>
            <c:bubble3D val="0"/>
            <c:spPr>
              <a:solidFill>
                <a:srgbClr val="FFC000"/>
              </a:solidFill>
              <a:ln>
                <a:noFill/>
              </a:ln>
              <a:effectLst/>
            </c:spPr>
            <c:extLst>
              <c:ext xmlns:c16="http://schemas.microsoft.com/office/drawing/2014/chart" uri="{C3380CC4-5D6E-409C-BE32-E72D297353CC}">
                <c16:uniqueId val="{00000007-A415-4059-87D8-705CDE3ED12A}"/>
              </c:ext>
            </c:extLst>
          </c:dPt>
          <c:dPt>
            <c:idx val="4"/>
            <c:invertIfNegative val="0"/>
            <c:bubble3D val="0"/>
            <c:spPr>
              <a:solidFill>
                <a:srgbClr val="00B050"/>
              </a:solidFill>
              <a:ln>
                <a:noFill/>
              </a:ln>
              <a:effectLst/>
            </c:spPr>
            <c:extLst>
              <c:ext xmlns:c16="http://schemas.microsoft.com/office/drawing/2014/chart" uri="{C3380CC4-5D6E-409C-BE32-E72D297353CC}">
                <c16:uniqueId val="{00000009-A415-4059-87D8-705CDE3ED12A}"/>
              </c:ext>
            </c:extLst>
          </c:dPt>
          <c:dPt>
            <c:idx val="5"/>
            <c:invertIfNegative val="0"/>
            <c:bubble3D val="0"/>
            <c:spPr>
              <a:solidFill>
                <a:srgbClr val="00B050"/>
              </a:solidFill>
              <a:ln>
                <a:noFill/>
              </a:ln>
              <a:effectLst/>
            </c:spPr>
            <c:extLst>
              <c:ext xmlns:c16="http://schemas.microsoft.com/office/drawing/2014/chart" uri="{C3380CC4-5D6E-409C-BE32-E72D297353CC}">
                <c16:uniqueId val="{0000000B-A415-4059-87D8-705CDE3ED12A}"/>
              </c:ext>
            </c:extLst>
          </c:dPt>
          <c:dPt>
            <c:idx val="6"/>
            <c:invertIfNegative val="0"/>
            <c:bubble3D val="0"/>
            <c:spPr>
              <a:solidFill>
                <a:srgbClr val="00B050"/>
              </a:solidFill>
              <a:ln>
                <a:noFill/>
              </a:ln>
              <a:effectLst/>
            </c:spPr>
            <c:extLst>
              <c:ext xmlns:c16="http://schemas.microsoft.com/office/drawing/2014/chart" uri="{C3380CC4-5D6E-409C-BE32-E72D297353CC}">
                <c16:uniqueId val="{0000000D-A415-4059-87D8-705CDE3ED12A}"/>
              </c:ext>
            </c:extLst>
          </c:dPt>
          <c:dPt>
            <c:idx val="7"/>
            <c:invertIfNegative val="0"/>
            <c:bubble3D val="0"/>
            <c:spPr>
              <a:solidFill>
                <a:srgbClr val="00B050"/>
              </a:solidFill>
              <a:ln>
                <a:noFill/>
              </a:ln>
              <a:effectLst/>
            </c:spPr>
            <c:extLst>
              <c:ext xmlns:c16="http://schemas.microsoft.com/office/drawing/2014/chart" uri="{C3380CC4-5D6E-409C-BE32-E72D297353CC}">
                <c16:uniqueId val="{0000000F-A415-4059-87D8-705CDE3ED12A}"/>
              </c:ext>
            </c:extLst>
          </c:dPt>
          <c:dPt>
            <c:idx val="8"/>
            <c:invertIfNegative val="0"/>
            <c:bubble3D val="0"/>
            <c:spPr>
              <a:solidFill>
                <a:srgbClr val="00B050"/>
              </a:solidFill>
              <a:ln>
                <a:noFill/>
              </a:ln>
              <a:effectLst/>
            </c:spPr>
            <c:extLst>
              <c:ext xmlns:c16="http://schemas.microsoft.com/office/drawing/2014/chart" uri="{C3380CC4-5D6E-409C-BE32-E72D297353CC}">
                <c16:uniqueId val="{00000011-A415-4059-87D8-705CDE3ED12A}"/>
              </c:ext>
            </c:extLst>
          </c:dPt>
          <c:dPt>
            <c:idx val="9"/>
            <c:invertIfNegative val="0"/>
            <c:bubble3D val="0"/>
            <c:spPr>
              <a:solidFill>
                <a:srgbClr val="00B050"/>
              </a:solidFill>
              <a:ln>
                <a:noFill/>
              </a:ln>
              <a:effectLst/>
            </c:spPr>
            <c:extLst>
              <c:ext xmlns:c16="http://schemas.microsoft.com/office/drawing/2014/chart" uri="{C3380CC4-5D6E-409C-BE32-E72D297353CC}">
                <c16:uniqueId val="{00000013-A415-4059-87D8-705CDE3ED12A}"/>
              </c:ext>
            </c:extLst>
          </c:dPt>
          <c:dPt>
            <c:idx val="10"/>
            <c:invertIfNegative val="0"/>
            <c:bubble3D val="0"/>
            <c:spPr>
              <a:solidFill>
                <a:srgbClr val="00B050"/>
              </a:solidFill>
              <a:ln>
                <a:noFill/>
              </a:ln>
              <a:effectLst/>
            </c:spPr>
            <c:extLst>
              <c:ext xmlns:c16="http://schemas.microsoft.com/office/drawing/2014/chart" uri="{C3380CC4-5D6E-409C-BE32-E72D297353CC}">
                <c16:uniqueId val="{00000015-A415-4059-87D8-705CDE3ED12A}"/>
              </c:ext>
            </c:extLst>
          </c:dPt>
          <c:dPt>
            <c:idx val="11"/>
            <c:invertIfNegative val="0"/>
            <c:bubble3D val="0"/>
            <c:spPr>
              <a:solidFill>
                <a:srgbClr val="00B050"/>
              </a:solidFill>
              <a:ln>
                <a:noFill/>
              </a:ln>
              <a:effectLst/>
            </c:spPr>
            <c:extLst>
              <c:ext xmlns:c16="http://schemas.microsoft.com/office/drawing/2014/chart" uri="{C3380CC4-5D6E-409C-BE32-E72D297353CC}">
                <c16:uniqueId val="{00000017-A415-4059-87D8-705CDE3ED12A}"/>
              </c:ext>
            </c:extLst>
          </c:dPt>
          <c:dPt>
            <c:idx val="12"/>
            <c:invertIfNegative val="0"/>
            <c:bubble3D val="0"/>
            <c:spPr>
              <a:solidFill>
                <a:srgbClr val="00B050"/>
              </a:solidFill>
              <a:ln>
                <a:noFill/>
              </a:ln>
              <a:effectLst/>
            </c:spPr>
            <c:extLst>
              <c:ext xmlns:c16="http://schemas.microsoft.com/office/drawing/2014/chart" uri="{C3380CC4-5D6E-409C-BE32-E72D297353CC}">
                <c16:uniqueId val="{00000019-A415-4059-87D8-705CDE3ED12A}"/>
              </c:ext>
            </c:extLst>
          </c:dPt>
          <c:dPt>
            <c:idx val="13"/>
            <c:invertIfNegative val="0"/>
            <c:bubble3D val="0"/>
            <c:spPr>
              <a:solidFill>
                <a:srgbClr val="00B050"/>
              </a:solidFill>
              <a:ln>
                <a:noFill/>
              </a:ln>
              <a:effectLst/>
            </c:spPr>
            <c:extLst>
              <c:ext xmlns:c16="http://schemas.microsoft.com/office/drawing/2014/chart" uri="{C3380CC4-5D6E-409C-BE32-E72D297353CC}">
                <c16:uniqueId val="{0000001B-A415-4059-87D8-705CDE3ED12A}"/>
              </c:ext>
            </c:extLst>
          </c:dPt>
          <c:dPt>
            <c:idx val="14"/>
            <c:invertIfNegative val="0"/>
            <c:bubble3D val="0"/>
            <c:spPr>
              <a:solidFill>
                <a:srgbClr val="00B050"/>
              </a:solidFill>
              <a:ln>
                <a:noFill/>
              </a:ln>
              <a:effectLst/>
            </c:spPr>
            <c:extLst>
              <c:ext xmlns:c16="http://schemas.microsoft.com/office/drawing/2014/chart" uri="{C3380CC4-5D6E-409C-BE32-E72D297353CC}">
                <c16:uniqueId val="{0000001D-A415-4059-87D8-705CDE3ED12A}"/>
              </c:ext>
            </c:extLst>
          </c:dPt>
          <c:dPt>
            <c:idx val="15"/>
            <c:invertIfNegative val="0"/>
            <c:bubble3D val="0"/>
            <c:spPr>
              <a:solidFill>
                <a:srgbClr val="00B050"/>
              </a:solidFill>
              <a:ln>
                <a:noFill/>
              </a:ln>
              <a:effectLst/>
            </c:spPr>
            <c:extLst>
              <c:ext xmlns:c16="http://schemas.microsoft.com/office/drawing/2014/chart" uri="{C3380CC4-5D6E-409C-BE32-E72D297353CC}">
                <c16:uniqueId val="{0000001F-A415-4059-87D8-705CDE3ED12A}"/>
              </c:ext>
            </c:extLst>
          </c:dPt>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'RTC Pivot'!$A$7:$A$35</c:f>
              <c:multiLvlStrCache>
                <c:ptCount val="25"/>
                <c:lvl>
                  <c:pt idx="0">
                    <c:v>Sep</c:v>
                  </c:pt>
                  <c:pt idx="1">
                    <c:v>Oct</c:v>
                  </c:pt>
                  <c:pt idx="2">
                    <c:v>Nov</c:v>
                  </c:pt>
                  <c:pt idx="3">
                    <c:v>Dec</c:v>
                  </c:pt>
                  <c:pt idx="4">
                    <c:v>Jan</c:v>
                  </c:pt>
                  <c:pt idx="5">
                    <c:v>Feb</c:v>
                  </c:pt>
                  <c:pt idx="6">
                    <c:v>Mar</c:v>
                  </c:pt>
                  <c:pt idx="7">
                    <c:v>Apr</c:v>
                  </c:pt>
                  <c:pt idx="8">
                    <c:v>May</c:v>
                  </c:pt>
                  <c:pt idx="9">
                    <c:v>Jun</c:v>
                  </c:pt>
                  <c:pt idx="10">
                    <c:v>Jul</c:v>
                  </c:pt>
                  <c:pt idx="11">
                    <c:v>Aug</c:v>
                  </c:pt>
                  <c:pt idx="12">
                    <c:v>Sep</c:v>
                  </c:pt>
                  <c:pt idx="13">
                    <c:v>Oct</c:v>
                  </c:pt>
                  <c:pt idx="14">
                    <c:v>Nov</c:v>
                  </c:pt>
                  <c:pt idx="15">
                    <c:v>Dec</c:v>
                  </c:pt>
                  <c:pt idx="16">
                    <c:v>Jan</c:v>
                  </c:pt>
                  <c:pt idx="17">
                    <c:v>Feb</c:v>
                  </c:pt>
                  <c:pt idx="18">
                    <c:v>Mar</c:v>
                  </c:pt>
                  <c:pt idx="19">
                    <c:v>Apr</c:v>
                  </c:pt>
                  <c:pt idx="20">
                    <c:v>May</c:v>
                  </c:pt>
                  <c:pt idx="21">
                    <c:v>Jun</c:v>
                  </c:pt>
                  <c:pt idx="22">
                    <c:v>Jul</c:v>
                  </c:pt>
                  <c:pt idx="23">
                    <c:v>Aug</c:v>
                  </c:pt>
                  <c:pt idx="24">
                    <c:v>Sep</c:v>
                  </c:pt>
                </c:lvl>
                <c:lvl>
                  <c:pt idx="0">
                    <c:v>2023</c:v>
                  </c:pt>
                  <c:pt idx="4">
                    <c:v>2024</c:v>
                  </c:pt>
                  <c:pt idx="16">
                    <c:v>2025</c:v>
                  </c:pt>
                </c:lvl>
              </c:multiLvlStrCache>
            </c:multiLvlStrRef>
          </c:cat>
          <c:val>
            <c:numRef>
              <c:f>'RTC Pivot'!$B$7:$B$35</c:f>
              <c:numCache>
                <c:formatCode>General</c:formatCode>
                <c:ptCount val="25"/>
                <c:pt idx="0">
                  <c:v>19</c:v>
                </c:pt>
                <c:pt idx="1">
                  <c:v>12</c:v>
                </c:pt>
                <c:pt idx="2">
                  <c:v>16</c:v>
                </c:pt>
                <c:pt idx="3">
                  <c:v>13</c:v>
                </c:pt>
                <c:pt idx="4">
                  <c:v>36</c:v>
                </c:pt>
                <c:pt idx="5">
                  <c:v>43</c:v>
                </c:pt>
                <c:pt idx="6">
                  <c:v>36</c:v>
                </c:pt>
                <c:pt idx="7">
                  <c:v>38</c:v>
                </c:pt>
                <c:pt idx="8">
                  <c:v>32</c:v>
                </c:pt>
                <c:pt idx="9">
                  <c:v>18</c:v>
                </c:pt>
                <c:pt idx="10">
                  <c:v>17</c:v>
                </c:pt>
                <c:pt idx="11">
                  <c:v>30</c:v>
                </c:pt>
                <c:pt idx="12">
                  <c:v>31</c:v>
                </c:pt>
                <c:pt idx="13">
                  <c:v>20</c:v>
                </c:pt>
                <c:pt idx="14">
                  <c:v>13</c:v>
                </c:pt>
                <c:pt idx="15">
                  <c:v>14</c:v>
                </c:pt>
                <c:pt idx="16">
                  <c:v>23</c:v>
                </c:pt>
                <c:pt idx="17">
                  <c:v>22</c:v>
                </c:pt>
                <c:pt idx="18">
                  <c:v>18</c:v>
                </c:pt>
                <c:pt idx="19">
                  <c:v>37</c:v>
                </c:pt>
                <c:pt idx="20">
                  <c:v>22</c:v>
                </c:pt>
                <c:pt idx="21">
                  <c:v>46</c:v>
                </c:pt>
                <c:pt idx="22">
                  <c:v>23</c:v>
                </c:pt>
                <c:pt idx="23">
                  <c:v>30</c:v>
                </c:pt>
                <c:pt idx="24">
                  <c:v>24</c:v>
                </c:pt>
              </c:numCache>
            </c:numRef>
          </c:val>
          <c:extLst>
            <c:ext xmlns:c16="http://schemas.microsoft.com/office/drawing/2014/chart" uri="{C3380CC4-5D6E-409C-BE32-E72D297353CC}">
              <c16:uniqueId val="{00000020-A415-4059-87D8-705CDE3ED12A}"/>
            </c:ext>
          </c:extLst>
        </c:ser>
        <c:dLbls>
          <c:showLegendKey val="0"/>
          <c:showVal val="1"/>
          <c:showCatName val="0"/>
          <c:showSerName val="0"/>
          <c:showPercent val="0"/>
          <c:showBubbleSize val="0"/>
        </c:dLbls>
        <c:gapWidth val="75"/>
        <c:axId val="673304752"/>
        <c:axId val="673306192"/>
      </c:barChart>
      <c:catAx>
        <c:axId val="673304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673306192"/>
        <c:crosses val="autoZero"/>
        <c:auto val="1"/>
        <c:lblAlgn val="ctr"/>
        <c:lblOffset val="100"/>
        <c:noMultiLvlLbl val="0"/>
      </c:catAx>
      <c:valAx>
        <c:axId val="673306192"/>
        <c:scaling>
          <c:orientation val="minMax"/>
          <c:max val="50"/>
          <c:min val="10"/>
        </c:scaling>
        <c:delete val="1"/>
        <c:axPos val="l"/>
        <c:numFmt formatCode="General" sourceLinked="1"/>
        <c:majorTickMark val="none"/>
        <c:minorTickMark val="none"/>
        <c:tickLblPos val="nextTo"/>
        <c:crossAx val="673304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r>
              <a:rPr lang="en-US" sz="2000" b="1"/>
              <a:t>Orthopedic</a:t>
            </a:r>
            <a:r>
              <a:rPr lang="en-US" sz="2000" b="1" baseline="0"/>
              <a:t> Elective Surgeries</a:t>
            </a:r>
            <a:endParaRPr lang="en-US" sz="2000" b="1"/>
          </a:p>
        </c:rich>
      </c:tx>
      <c:overlay val="0"/>
      <c:spPr>
        <a:noFill/>
        <a:ln>
          <a:noFill/>
        </a:ln>
        <a:effectLst/>
      </c:spPr>
      <c:txPr>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cked"/>
        <c:varyColors val="0"/>
        <c:ser>
          <c:idx val="0"/>
          <c:order val="0"/>
          <c:tx>
            <c:v>Ortho Surgery Volume</c:v>
          </c:tx>
          <c:spPr>
            <a:solidFill>
              <a:schemeClr val="accent1"/>
            </a:solidFill>
            <a:ln>
              <a:noFill/>
            </a:ln>
            <a:effectLst/>
          </c:spPr>
          <c:cat>
            <c:numRef>
              <c:f>'Ortho Elective Volume'!$M$2:$M$48</c:f>
              <c:numCache>
                <c:formatCode>mmm\-yy</c:formatCode>
                <c:ptCount val="47"/>
                <c:pt idx="0">
                  <c:v>44501</c:v>
                </c:pt>
                <c:pt idx="1">
                  <c:v>44531</c:v>
                </c:pt>
                <c:pt idx="2">
                  <c:v>44562</c:v>
                </c:pt>
                <c:pt idx="3">
                  <c:v>44593</c:v>
                </c:pt>
                <c:pt idx="4">
                  <c:v>44621</c:v>
                </c:pt>
                <c:pt idx="5">
                  <c:v>44652</c:v>
                </c:pt>
                <c:pt idx="6">
                  <c:v>44682</c:v>
                </c:pt>
                <c:pt idx="7">
                  <c:v>44713</c:v>
                </c:pt>
                <c:pt idx="8">
                  <c:v>44743</c:v>
                </c:pt>
                <c:pt idx="9">
                  <c:v>44774</c:v>
                </c:pt>
                <c:pt idx="10">
                  <c:v>44805</c:v>
                </c:pt>
                <c:pt idx="11">
                  <c:v>44835</c:v>
                </c:pt>
                <c:pt idx="12">
                  <c:v>44866</c:v>
                </c:pt>
                <c:pt idx="13">
                  <c:v>44896</c:v>
                </c:pt>
                <c:pt idx="14">
                  <c:v>44927</c:v>
                </c:pt>
                <c:pt idx="15">
                  <c:v>44958</c:v>
                </c:pt>
                <c:pt idx="16">
                  <c:v>44986</c:v>
                </c:pt>
                <c:pt idx="17">
                  <c:v>45017</c:v>
                </c:pt>
                <c:pt idx="18">
                  <c:v>45047</c:v>
                </c:pt>
                <c:pt idx="19">
                  <c:v>45078</c:v>
                </c:pt>
                <c:pt idx="20">
                  <c:v>45108</c:v>
                </c:pt>
                <c:pt idx="21">
                  <c:v>45139</c:v>
                </c:pt>
                <c:pt idx="22">
                  <c:v>45170</c:v>
                </c:pt>
                <c:pt idx="23">
                  <c:v>45200</c:v>
                </c:pt>
                <c:pt idx="24">
                  <c:v>45231</c:v>
                </c:pt>
                <c:pt idx="25">
                  <c:v>45261</c:v>
                </c:pt>
                <c:pt idx="26">
                  <c:v>45292</c:v>
                </c:pt>
                <c:pt idx="27">
                  <c:v>45323</c:v>
                </c:pt>
                <c:pt idx="28">
                  <c:v>45352</c:v>
                </c:pt>
                <c:pt idx="29">
                  <c:v>45383</c:v>
                </c:pt>
                <c:pt idx="30">
                  <c:v>45413</c:v>
                </c:pt>
                <c:pt idx="31">
                  <c:v>45444</c:v>
                </c:pt>
                <c:pt idx="32">
                  <c:v>45474</c:v>
                </c:pt>
                <c:pt idx="33">
                  <c:v>45505</c:v>
                </c:pt>
                <c:pt idx="34">
                  <c:v>45536</c:v>
                </c:pt>
                <c:pt idx="35">
                  <c:v>45566</c:v>
                </c:pt>
                <c:pt idx="36">
                  <c:v>45597</c:v>
                </c:pt>
                <c:pt idx="37">
                  <c:v>45627</c:v>
                </c:pt>
                <c:pt idx="38">
                  <c:v>45658</c:v>
                </c:pt>
                <c:pt idx="39">
                  <c:v>45689</c:v>
                </c:pt>
                <c:pt idx="40">
                  <c:v>45717</c:v>
                </c:pt>
                <c:pt idx="41">
                  <c:v>45748</c:v>
                </c:pt>
                <c:pt idx="42">
                  <c:v>45778</c:v>
                </c:pt>
                <c:pt idx="43">
                  <c:v>45809</c:v>
                </c:pt>
                <c:pt idx="44">
                  <c:v>45839</c:v>
                </c:pt>
                <c:pt idx="45">
                  <c:v>45870</c:v>
                </c:pt>
                <c:pt idx="46">
                  <c:v>45901</c:v>
                </c:pt>
              </c:numCache>
            </c:numRef>
          </c:cat>
          <c:val>
            <c:numRef>
              <c:f>'Ortho Elective Volume'!$N$2:$N$48</c:f>
              <c:numCache>
                <c:formatCode>General</c:formatCode>
                <c:ptCount val="47"/>
                <c:pt idx="0">
                  <c:v>9</c:v>
                </c:pt>
                <c:pt idx="1">
                  <c:v>25</c:v>
                </c:pt>
                <c:pt idx="2">
                  <c:v>44</c:v>
                </c:pt>
                <c:pt idx="3">
                  <c:v>35</c:v>
                </c:pt>
                <c:pt idx="4">
                  <c:v>95</c:v>
                </c:pt>
                <c:pt idx="5">
                  <c:v>74</c:v>
                </c:pt>
                <c:pt idx="6">
                  <c:v>88</c:v>
                </c:pt>
                <c:pt idx="7">
                  <c:v>81</c:v>
                </c:pt>
                <c:pt idx="8">
                  <c:v>82</c:v>
                </c:pt>
                <c:pt idx="9">
                  <c:v>105</c:v>
                </c:pt>
                <c:pt idx="10">
                  <c:v>85</c:v>
                </c:pt>
                <c:pt idx="11">
                  <c:v>101</c:v>
                </c:pt>
                <c:pt idx="12">
                  <c:v>113</c:v>
                </c:pt>
                <c:pt idx="13">
                  <c:v>99</c:v>
                </c:pt>
                <c:pt idx="14">
                  <c:v>125</c:v>
                </c:pt>
                <c:pt idx="15">
                  <c:v>107</c:v>
                </c:pt>
                <c:pt idx="16">
                  <c:v>123</c:v>
                </c:pt>
                <c:pt idx="17">
                  <c:v>120</c:v>
                </c:pt>
                <c:pt idx="18">
                  <c:v>120</c:v>
                </c:pt>
                <c:pt idx="19">
                  <c:v>91</c:v>
                </c:pt>
                <c:pt idx="20">
                  <c:v>90</c:v>
                </c:pt>
                <c:pt idx="21">
                  <c:v>129</c:v>
                </c:pt>
                <c:pt idx="22">
                  <c:v>102</c:v>
                </c:pt>
                <c:pt idx="23">
                  <c:v>111</c:v>
                </c:pt>
                <c:pt idx="24">
                  <c:v>115</c:v>
                </c:pt>
                <c:pt idx="25">
                  <c:v>110</c:v>
                </c:pt>
                <c:pt idx="26">
                  <c:v>145</c:v>
                </c:pt>
                <c:pt idx="27">
                  <c:v>149</c:v>
                </c:pt>
                <c:pt idx="28">
                  <c:v>141</c:v>
                </c:pt>
                <c:pt idx="29">
                  <c:v>136</c:v>
                </c:pt>
                <c:pt idx="30">
                  <c:v>129</c:v>
                </c:pt>
                <c:pt idx="31">
                  <c:v>102</c:v>
                </c:pt>
                <c:pt idx="32">
                  <c:v>109</c:v>
                </c:pt>
                <c:pt idx="33">
                  <c:v>133</c:v>
                </c:pt>
                <c:pt idx="34">
                  <c:v>128</c:v>
                </c:pt>
                <c:pt idx="35">
                  <c:v>128</c:v>
                </c:pt>
                <c:pt idx="36">
                  <c:v>118</c:v>
                </c:pt>
                <c:pt idx="37">
                  <c:v>127</c:v>
                </c:pt>
                <c:pt idx="38">
                  <c:v>138</c:v>
                </c:pt>
                <c:pt idx="39">
                  <c:v>131</c:v>
                </c:pt>
                <c:pt idx="40">
                  <c:v>131</c:v>
                </c:pt>
                <c:pt idx="41">
                  <c:v>172</c:v>
                </c:pt>
                <c:pt idx="42">
                  <c:v>128</c:v>
                </c:pt>
                <c:pt idx="43">
                  <c:v>142</c:v>
                </c:pt>
                <c:pt idx="44">
                  <c:v>150</c:v>
                </c:pt>
                <c:pt idx="45">
                  <c:v>129</c:v>
                </c:pt>
                <c:pt idx="46">
                  <c:v>120</c:v>
                </c:pt>
              </c:numCache>
            </c:numRef>
          </c:val>
          <c:extLst>
            <c:ext xmlns:c16="http://schemas.microsoft.com/office/drawing/2014/chart" uri="{C3380CC4-5D6E-409C-BE32-E72D297353CC}">
              <c16:uniqueId val="{00000000-89AF-43AB-8A7E-3D2675B5ECE4}"/>
            </c:ext>
          </c:extLst>
        </c:ser>
        <c:ser>
          <c:idx val="1"/>
          <c:order val="1"/>
          <c:tx>
            <c:v>Volume Admitted to Unit</c:v>
          </c:tx>
          <c:spPr>
            <a:solidFill>
              <a:schemeClr val="bg1">
                <a:lumMod val="65000"/>
              </a:schemeClr>
            </a:solidFill>
            <a:ln>
              <a:noFill/>
            </a:ln>
            <a:effectLst/>
          </c:spPr>
          <c:cat>
            <c:numRef>
              <c:f>'Ortho Elective Volume'!$M$2:$M$48</c:f>
              <c:numCache>
                <c:formatCode>mmm\-yy</c:formatCode>
                <c:ptCount val="47"/>
                <c:pt idx="0">
                  <c:v>44501</c:v>
                </c:pt>
                <c:pt idx="1">
                  <c:v>44531</c:v>
                </c:pt>
                <c:pt idx="2">
                  <c:v>44562</c:v>
                </c:pt>
                <c:pt idx="3">
                  <c:v>44593</c:v>
                </c:pt>
                <c:pt idx="4">
                  <c:v>44621</c:v>
                </c:pt>
                <c:pt idx="5">
                  <c:v>44652</c:v>
                </c:pt>
                <c:pt idx="6">
                  <c:v>44682</c:v>
                </c:pt>
                <c:pt idx="7">
                  <c:v>44713</c:v>
                </c:pt>
                <c:pt idx="8">
                  <c:v>44743</c:v>
                </c:pt>
                <c:pt idx="9">
                  <c:v>44774</c:v>
                </c:pt>
                <c:pt idx="10">
                  <c:v>44805</c:v>
                </c:pt>
                <c:pt idx="11">
                  <c:v>44835</c:v>
                </c:pt>
                <c:pt idx="12">
                  <c:v>44866</c:v>
                </c:pt>
                <c:pt idx="13">
                  <c:v>44896</c:v>
                </c:pt>
                <c:pt idx="14">
                  <c:v>44927</c:v>
                </c:pt>
                <c:pt idx="15">
                  <c:v>44958</c:v>
                </c:pt>
                <c:pt idx="16">
                  <c:v>44986</c:v>
                </c:pt>
                <c:pt idx="17">
                  <c:v>45017</c:v>
                </c:pt>
                <c:pt idx="18">
                  <c:v>45047</c:v>
                </c:pt>
                <c:pt idx="19">
                  <c:v>45078</c:v>
                </c:pt>
                <c:pt idx="20">
                  <c:v>45108</c:v>
                </c:pt>
                <c:pt idx="21">
                  <c:v>45139</c:v>
                </c:pt>
                <c:pt idx="22">
                  <c:v>45170</c:v>
                </c:pt>
                <c:pt idx="23">
                  <c:v>45200</c:v>
                </c:pt>
                <c:pt idx="24">
                  <c:v>45231</c:v>
                </c:pt>
                <c:pt idx="25">
                  <c:v>45261</c:v>
                </c:pt>
                <c:pt idx="26">
                  <c:v>45292</c:v>
                </c:pt>
                <c:pt idx="27">
                  <c:v>45323</c:v>
                </c:pt>
                <c:pt idx="28">
                  <c:v>45352</c:v>
                </c:pt>
                <c:pt idx="29">
                  <c:v>45383</c:v>
                </c:pt>
                <c:pt idx="30">
                  <c:v>45413</c:v>
                </c:pt>
                <c:pt idx="31">
                  <c:v>45444</c:v>
                </c:pt>
                <c:pt idx="32">
                  <c:v>45474</c:v>
                </c:pt>
                <c:pt idx="33">
                  <c:v>45505</c:v>
                </c:pt>
                <c:pt idx="34">
                  <c:v>45536</c:v>
                </c:pt>
                <c:pt idx="35">
                  <c:v>45566</c:v>
                </c:pt>
                <c:pt idx="36">
                  <c:v>45597</c:v>
                </c:pt>
                <c:pt idx="37">
                  <c:v>45627</c:v>
                </c:pt>
                <c:pt idx="38">
                  <c:v>45658</c:v>
                </c:pt>
                <c:pt idx="39">
                  <c:v>45689</c:v>
                </c:pt>
                <c:pt idx="40">
                  <c:v>45717</c:v>
                </c:pt>
                <c:pt idx="41">
                  <c:v>45748</c:v>
                </c:pt>
                <c:pt idx="42">
                  <c:v>45778</c:v>
                </c:pt>
                <c:pt idx="43">
                  <c:v>45809</c:v>
                </c:pt>
                <c:pt idx="44">
                  <c:v>45839</c:v>
                </c:pt>
                <c:pt idx="45">
                  <c:v>45870</c:v>
                </c:pt>
                <c:pt idx="46">
                  <c:v>45901</c:v>
                </c:pt>
              </c:numCache>
            </c:numRef>
          </c:cat>
          <c:val>
            <c:numRef>
              <c:f>'Ortho Elective Volume'!$O$2:$O$48</c:f>
              <c:numCache>
                <c:formatCode>General</c:formatCode>
                <c:ptCount val="47"/>
                <c:pt idx="0">
                  <c:v>11</c:v>
                </c:pt>
                <c:pt idx="1">
                  <c:v>30</c:v>
                </c:pt>
                <c:pt idx="2">
                  <c:v>72</c:v>
                </c:pt>
                <c:pt idx="3">
                  <c:v>56</c:v>
                </c:pt>
                <c:pt idx="4">
                  <c:v>119</c:v>
                </c:pt>
                <c:pt idx="5">
                  <c:v>99</c:v>
                </c:pt>
                <c:pt idx="6">
                  <c:v>104</c:v>
                </c:pt>
                <c:pt idx="7">
                  <c:v>107</c:v>
                </c:pt>
                <c:pt idx="8">
                  <c:v>105</c:v>
                </c:pt>
                <c:pt idx="9">
                  <c:v>138</c:v>
                </c:pt>
                <c:pt idx="10">
                  <c:v>119</c:v>
                </c:pt>
                <c:pt idx="11">
                  <c:v>133</c:v>
                </c:pt>
                <c:pt idx="12">
                  <c:v>148</c:v>
                </c:pt>
                <c:pt idx="13">
                  <c:v>135</c:v>
                </c:pt>
                <c:pt idx="14">
                  <c:v>156</c:v>
                </c:pt>
                <c:pt idx="15">
                  <c:v>137</c:v>
                </c:pt>
                <c:pt idx="16">
                  <c:v>154</c:v>
                </c:pt>
                <c:pt idx="17">
                  <c:v>150</c:v>
                </c:pt>
                <c:pt idx="18">
                  <c:v>148</c:v>
                </c:pt>
                <c:pt idx="19">
                  <c:v>120</c:v>
                </c:pt>
                <c:pt idx="20">
                  <c:v>124</c:v>
                </c:pt>
                <c:pt idx="21">
                  <c:v>155</c:v>
                </c:pt>
                <c:pt idx="22">
                  <c:v>126</c:v>
                </c:pt>
                <c:pt idx="23">
                  <c:v>147</c:v>
                </c:pt>
                <c:pt idx="24">
                  <c:v>149</c:v>
                </c:pt>
                <c:pt idx="25">
                  <c:v>151</c:v>
                </c:pt>
                <c:pt idx="26">
                  <c:v>196</c:v>
                </c:pt>
                <c:pt idx="27">
                  <c:v>187</c:v>
                </c:pt>
                <c:pt idx="28">
                  <c:v>180</c:v>
                </c:pt>
                <c:pt idx="29">
                  <c:v>184</c:v>
                </c:pt>
                <c:pt idx="30">
                  <c:v>169</c:v>
                </c:pt>
                <c:pt idx="31">
                  <c:v>140</c:v>
                </c:pt>
                <c:pt idx="32">
                  <c:v>154</c:v>
                </c:pt>
                <c:pt idx="33">
                  <c:v>180</c:v>
                </c:pt>
                <c:pt idx="34">
                  <c:v>182</c:v>
                </c:pt>
                <c:pt idx="35">
                  <c:v>189</c:v>
                </c:pt>
                <c:pt idx="36">
                  <c:v>179</c:v>
                </c:pt>
                <c:pt idx="37">
                  <c:v>190</c:v>
                </c:pt>
                <c:pt idx="38">
                  <c:v>200</c:v>
                </c:pt>
                <c:pt idx="39">
                  <c:v>200</c:v>
                </c:pt>
                <c:pt idx="40">
                  <c:v>204</c:v>
                </c:pt>
                <c:pt idx="41">
                  <c:v>229</c:v>
                </c:pt>
                <c:pt idx="42">
                  <c:v>179</c:v>
                </c:pt>
                <c:pt idx="43">
                  <c:v>190</c:v>
                </c:pt>
                <c:pt idx="44">
                  <c:v>199</c:v>
                </c:pt>
                <c:pt idx="45">
                  <c:v>182</c:v>
                </c:pt>
                <c:pt idx="46">
                  <c:v>174</c:v>
                </c:pt>
              </c:numCache>
            </c:numRef>
          </c:val>
          <c:extLst>
            <c:ext xmlns:c16="http://schemas.microsoft.com/office/drawing/2014/chart" uri="{C3380CC4-5D6E-409C-BE32-E72D297353CC}">
              <c16:uniqueId val="{00000001-89AF-43AB-8A7E-3D2675B5ECE4}"/>
            </c:ext>
          </c:extLst>
        </c:ser>
        <c:dLbls>
          <c:showLegendKey val="0"/>
          <c:showVal val="0"/>
          <c:showCatName val="0"/>
          <c:showSerName val="0"/>
          <c:showPercent val="0"/>
          <c:showBubbleSize val="0"/>
        </c:dLbls>
        <c:axId val="430134096"/>
        <c:axId val="430136496"/>
      </c:areaChart>
      <c:dateAx>
        <c:axId val="430134096"/>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95000"/>
                    <a:lumOff val="5000"/>
                  </a:schemeClr>
                </a:solidFill>
                <a:latin typeface="+mn-lt"/>
                <a:ea typeface="+mn-ea"/>
                <a:cs typeface="+mn-cs"/>
              </a:defRPr>
            </a:pPr>
            <a:endParaRPr lang="en-US"/>
          </a:p>
        </c:txPr>
        <c:crossAx val="430136496"/>
        <c:crosses val="autoZero"/>
        <c:auto val="1"/>
        <c:lblOffset val="100"/>
        <c:baseTimeUnit val="months"/>
      </c:dateAx>
      <c:valAx>
        <c:axId val="4301364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0134096"/>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a:solidFill>
                  <a:schemeClr val="tx1">
                    <a:lumMod val="95000"/>
                    <a:lumOff val="5000"/>
                  </a:schemeClr>
                </a:solidFill>
              </a:rPr>
              <a:t>Orthopedic</a:t>
            </a:r>
            <a:r>
              <a:rPr lang="en-US" sz="1800" b="1" baseline="0">
                <a:solidFill>
                  <a:schemeClr val="tx1">
                    <a:lumMod val="95000"/>
                    <a:lumOff val="5000"/>
                  </a:schemeClr>
                </a:solidFill>
              </a:rPr>
              <a:t> Placements and Elective Surgeries FY25</a:t>
            </a:r>
            <a:endParaRPr lang="en-US" sz="1800" b="1">
              <a:solidFill>
                <a:schemeClr val="tx1">
                  <a:lumMod val="95000"/>
                  <a:lumOff val="5000"/>
                </a:scheme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v>Placements</c:v>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95000"/>
                        <a:lumOff val="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'Placement &amp; Elective Pivots'!$A$24:$A$35</c:f>
              <c:numCache>
                <c:formatCode>mmm\-yy</c:formatCode>
                <c:ptCount val="1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numCache>
            </c:numRef>
          </c:cat>
          <c:val>
            <c:numRef>
              <c:f>'Placement &amp; Elective Pivots'!$B$24:$B$35</c:f>
              <c:numCache>
                <c:formatCode>General</c:formatCode>
                <c:ptCount val="12"/>
                <c:pt idx="0">
                  <c:v>263</c:v>
                </c:pt>
                <c:pt idx="1">
                  <c:v>267</c:v>
                </c:pt>
                <c:pt idx="2">
                  <c:v>310</c:v>
                </c:pt>
                <c:pt idx="3">
                  <c:v>334</c:v>
                </c:pt>
                <c:pt idx="4">
                  <c:v>341</c:v>
                </c:pt>
                <c:pt idx="5">
                  <c:v>354</c:v>
                </c:pt>
                <c:pt idx="6">
                  <c:v>336</c:v>
                </c:pt>
                <c:pt idx="7">
                  <c:v>335</c:v>
                </c:pt>
                <c:pt idx="8">
                  <c:v>348</c:v>
                </c:pt>
                <c:pt idx="9">
                  <c:v>358</c:v>
                </c:pt>
                <c:pt idx="10">
                  <c:v>373</c:v>
                </c:pt>
                <c:pt idx="11">
                  <c:v>345</c:v>
                </c:pt>
              </c:numCache>
            </c:numRef>
          </c:val>
          <c:extLst>
            <c:ext xmlns:c16="http://schemas.microsoft.com/office/drawing/2014/chart" uri="{C3380CC4-5D6E-409C-BE32-E72D297353CC}">
              <c16:uniqueId val="{00000000-CD47-44F0-ACDD-E2A6B3F2154E}"/>
            </c:ext>
          </c:extLst>
        </c:ser>
        <c:ser>
          <c:idx val="1"/>
          <c:order val="1"/>
          <c:tx>
            <c:v>Ortho Elective Volume</c:v>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95000"/>
                        <a:lumOff val="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'Placement &amp; Elective Pivots'!$A$24:$A$35</c:f>
              <c:numCache>
                <c:formatCode>mmm\-yy</c:formatCode>
                <c:ptCount val="12"/>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numCache>
            </c:numRef>
          </c:cat>
          <c:val>
            <c:numRef>
              <c:f>'Placement &amp; Elective Pivots'!$C$24:$C$35</c:f>
              <c:numCache>
                <c:formatCode>General</c:formatCode>
                <c:ptCount val="12"/>
                <c:pt idx="0">
                  <c:v>128</c:v>
                </c:pt>
                <c:pt idx="1">
                  <c:v>118</c:v>
                </c:pt>
                <c:pt idx="2">
                  <c:v>127</c:v>
                </c:pt>
                <c:pt idx="3">
                  <c:v>138</c:v>
                </c:pt>
                <c:pt idx="4">
                  <c:v>131</c:v>
                </c:pt>
                <c:pt idx="5">
                  <c:v>131</c:v>
                </c:pt>
                <c:pt idx="6">
                  <c:v>172</c:v>
                </c:pt>
                <c:pt idx="7">
                  <c:v>128</c:v>
                </c:pt>
                <c:pt idx="8">
                  <c:v>142</c:v>
                </c:pt>
                <c:pt idx="9">
                  <c:v>150</c:v>
                </c:pt>
                <c:pt idx="10">
                  <c:v>129</c:v>
                </c:pt>
                <c:pt idx="11">
                  <c:v>120</c:v>
                </c:pt>
              </c:numCache>
            </c:numRef>
          </c:val>
          <c:extLst>
            <c:ext xmlns:c16="http://schemas.microsoft.com/office/drawing/2014/chart" uri="{C3380CC4-5D6E-409C-BE32-E72D297353CC}">
              <c16:uniqueId val="{00000001-CD47-44F0-ACDD-E2A6B3F2154E}"/>
            </c:ext>
          </c:extLst>
        </c:ser>
        <c:dLbls>
          <c:showLegendKey val="0"/>
          <c:showVal val="0"/>
          <c:showCatName val="0"/>
          <c:showSerName val="0"/>
          <c:showPercent val="0"/>
          <c:showBubbleSize val="0"/>
        </c:dLbls>
        <c:gapWidth val="150"/>
        <c:overlap val="100"/>
        <c:axId val="964123968"/>
        <c:axId val="964108128"/>
      </c:barChart>
      <c:dateAx>
        <c:axId val="964123968"/>
        <c:scaling>
          <c:orientation val="maxMin"/>
        </c:scaling>
        <c:delete val="0"/>
        <c:axPos val="l"/>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95000"/>
                    <a:lumOff val="5000"/>
                  </a:schemeClr>
                </a:solidFill>
                <a:latin typeface="+mn-lt"/>
                <a:ea typeface="+mn-ea"/>
                <a:cs typeface="+mn-cs"/>
              </a:defRPr>
            </a:pPr>
            <a:endParaRPr lang="en-US"/>
          </a:p>
        </c:txPr>
        <c:crossAx val="964108128"/>
        <c:crosses val="autoZero"/>
        <c:auto val="1"/>
        <c:lblOffset val="100"/>
        <c:baseTimeUnit val="months"/>
      </c:dateAx>
      <c:valAx>
        <c:axId val="964108128"/>
        <c:scaling>
          <c:orientation val="minMax"/>
          <c:max val="525"/>
          <c:min val="100"/>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41239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0.73724</cdr:x>
      <cdr:y>0.02523</cdr:y>
    </cdr:from>
    <cdr:to>
      <cdr:x>0.94493</cdr:x>
      <cdr:y>0.1669</cdr:y>
    </cdr:to>
    <cdr:sp macro="" textlink="">
      <cdr:nvSpPr>
        <cdr:cNvPr id="2" name="TextBox 6">
          <a:extLst xmlns:a="http://schemas.openxmlformats.org/drawingml/2006/main">
            <a:ext uri="{FF2B5EF4-FFF2-40B4-BE49-F238E27FC236}">
              <a16:creationId xmlns:a16="http://schemas.microsoft.com/office/drawing/2014/main" id="{5BDC9453-E991-13B4-1519-6B3A3DCBF199}"/>
            </a:ext>
          </a:extLst>
        </cdr:cNvPr>
        <cdr:cNvSpPr txBox="1"/>
      </cdr:nvSpPr>
      <cdr:spPr>
        <a:xfrm xmlns:a="http://schemas.openxmlformats.org/drawingml/2006/main">
          <a:off x="8988391" y="173037"/>
          <a:ext cx="2532218" cy="971539"/>
        </a:xfrm>
        <a:prstGeom xmlns:a="http://schemas.openxmlformats.org/drawingml/2006/main" prst="rect">
          <a:avLst/>
        </a:prstGeom>
        <a:solidFill xmlns:a="http://schemas.openxmlformats.org/drawingml/2006/main">
          <a:schemeClr val="lt1"/>
        </a:solidFill>
        <a:ln xmlns:a="http://schemas.openxmlformats.org/drawingml/2006/main" w="9525" cmpd="sng">
          <a:solidFill>
            <a:schemeClr val="lt1">
              <a:shade val="50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defPPr>
            <a:defRPr lang="en-US"/>
          </a:defPPr>
          <a:lvl1pPr marL="0" indent="0" algn="l" defTabSz="457200" rtl="0" eaLnBrk="0" fontAlgn="base" hangingPunct="0">
            <a:spcBef>
              <a:spcPct val="0"/>
            </a:spcBef>
            <a:spcAft>
              <a:spcPct val="0"/>
            </a:spcAft>
            <a:defRPr sz="1100" kern="1200">
              <a:solidFill>
                <a:schemeClr val="dk1"/>
              </a:solidFill>
              <a:latin typeface="+mn-lt"/>
              <a:ea typeface="+mn-ea"/>
              <a:cs typeface="+mn-cs"/>
            </a:defRPr>
          </a:lvl1pPr>
          <a:lvl2pPr marL="457200" indent="0" algn="l" defTabSz="457200" rtl="0" eaLnBrk="0" fontAlgn="base" hangingPunct="0">
            <a:spcBef>
              <a:spcPct val="0"/>
            </a:spcBef>
            <a:spcAft>
              <a:spcPct val="0"/>
            </a:spcAft>
            <a:defRPr sz="1100" kern="1200">
              <a:solidFill>
                <a:schemeClr val="dk1"/>
              </a:solidFill>
              <a:latin typeface="+mn-lt"/>
              <a:ea typeface="+mn-ea"/>
              <a:cs typeface="+mn-cs"/>
            </a:defRPr>
          </a:lvl2pPr>
          <a:lvl3pPr marL="914400" indent="0" algn="l" defTabSz="457200" rtl="0" eaLnBrk="0" fontAlgn="base" hangingPunct="0">
            <a:spcBef>
              <a:spcPct val="0"/>
            </a:spcBef>
            <a:spcAft>
              <a:spcPct val="0"/>
            </a:spcAft>
            <a:defRPr sz="1100" kern="1200">
              <a:solidFill>
                <a:schemeClr val="dk1"/>
              </a:solidFill>
              <a:latin typeface="+mn-lt"/>
              <a:ea typeface="+mn-ea"/>
              <a:cs typeface="+mn-cs"/>
            </a:defRPr>
          </a:lvl3pPr>
          <a:lvl4pPr marL="1371600" indent="0" algn="l" defTabSz="457200" rtl="0" eaLnBrk="0" fontAlgn="base" hangingPunct="0">
            <a:spcBef>
              <a:spcPct val="0"/>
            </a:spcBef>
            <a:spcAft>
              <a:spcPct val="0"/>
            </a:spcAft>
            <a:defRPr sz="1100" kern="1200">
              <a:solidFill>
                <a:schemeClr val="dk1"/>
              </a:solidFill>
              <a:latin typeface="+mn-lt"/>
              <a:ea typeface="+mn-ea"/>
              <a:cs typeface="+mn-cs"/>
            </a:defRPr>
          </a:lvl4pPr>
          <a:lvl5pPr marL="1828800" indent="0" algn="l" defTabSz="457200" rtl="0" eaLnBrk="0" fontAlgn="base" hangingPunct="0">
            <a:spcBef>
              <a:spcPct val="0"/>
            </a:spcBef>
            <a:spcAft>
              <a:spcPct val="0"/>
            </a:spcAft>
            <a:defRPr sz="1100" kern="1200">
              <a:solidFill>
                <a:schemeClr val="dk1"/>
              </a:solidFill>
              <a:latin typeface="+mn-lt"/>
              <a:ea typeface="+mn-ea"/>
              <a:cs typeface="+mn-cs"/>
            </a:defRPr>
          </a:lvl5pPr>
          <a:lvl6pPr marL="2286000" indent="0" algn="l" defTabSz="914400" rtl="0" eaLnBrk="1" latinLnBrk="0" hangingPunct="1">
            <a:defRPr sz="1100" kern="1200">
              <a:solidFill>
                <a:schemeClr val="dk1"/>
              </a:solidFill>
              <a:latin typeface="+mn-lt"/>
              <a:ea typeface="+mn-ea"/>
              <a:cs typeface="+mn-cs"/>
            </a:defRPr>
          </a:lvl6pPr>
          <a:lvl7pPr marL="2743200" indent="0" algn="l" defTabSz="914400" rtl="0" eaLnBrk="1" latinLnBrk="0" hangingPunct="1">
            <a:defRPr sz="1100" kern="1200">
              <a:solidFill>
                <a:schemeClr val="dk1"/>
              </a:solidFill>
              <a:latin typeface="+mn-lt"/>
              <a:ea typeface="+mn-ea"/>
              <a:cs typeface="+mn-cs"/>
            </a:defRPr>
          </a:lvl7pPr>
          <a:lvl8pPr marL="3200400" indent="0" algn="l" defTabSz="914400" rtl="0" eaLnBrk="1" latinLnBrk="0" hangingPunct="1">
            <a:defRPr sz="1100" kern="1200">
              <a:solidFill>
                <a:schemeClr val="dk1"/>
              </a:solidFill>
              <a:latin typeface="+mn-lt"/>
              <a:ea typeface="+mn-ea"/>
              <a:cs typeface="+mn-cs"/>
            </a:defRPr>
          </a:lvl8pPr>
          <a:lvl9pPr marL="3657600" indent="0" algn="l" defTabSz="914400" rtl="0" eaLnBrk="1" latinLnBrk="0" hangingPunct="1">
            <a:defRPr sz="1100" kern="1200">
              <a:solidFill>
                <a:schemeClr val="dk1"/>
              </a:solidFill>
              <a:latin typeface="+mn-lt"/>
              <a:ea typeface="+mn-ea"/>
              <a:cs typeface="+mn-cs"/>
            </a:defRPr>
          </a:lvl9pPr>
        </a:lstStyle>
        <a:p xmlns:a="http://schemas.openxmlformats.org/drawingml/2006/main">
          <a:r>
            <a:rPr lang="en-US" b="1" u="sng" baseline="0" dirty="0"/>
            <a:t>Discharges before </a:t>
          </a:r>
          <a:r>
            <a:rPr lang="en-US" b="1" u="sng" dirty="0"/>
            <a:t>13</a:t>
          </a:r>
          <a:r>
            <a:rPr lang="en-US" b="1" u="sng" baseline="0" dirty="0"/>
            <a:t>00</a:t>
          </a:r>
          <a:r>
            <a:rPr lang="en-US" b="1" u="none" baseline="0" dirty="0"/>
            <a:t>  </a:t>
          </a:r>
          <a:r>
            <a:rPr lang="en-US" b="0" u="sng" baseline="0" dirty="0"/>
            <a:t>(</a:t>
          </a:r>
          <a:r>
            <a:rPr lang="en-US" b="0" u="none" baseline="0" dirty="0"/>
            <a:t>Goal: 40%)</a:t>
          </a:r>
          <a:br>
            <a:rPr lang="en-US" u="none" baseline="0" dirty="0"/>
          </a:br>
          <a:r>
            <a:rPr lang="en-US" b="1" baseline="0" dirty="0"/>
            <a:t>FY22: </a:t>
          </a:r>
          <a:r>
            <a:rPr lang="en-US" b="1" dirty="0">
              <a:solidFill>
                <a:srgbClr val="92D050"/>
              </a:solidFill>
            </a:rPr>
            <a:t>49%</a:t>
          </a:r>
          <a:br>
            <a:rPr lang="en-US" baseline="0" dirty="0"/>
          </a:br>
          <a:r>
            <a:rPr lang="en-US" b="1" baseline="0" dirty="0">
              <a:solidFill>
                <a:schemeClr val="dk1"/>
              </a:solidFill>
            </a:rPr>
            <a:t>FY23: </a:t>
          </a:r>
          <a:r>
            <a:rPr lang="en-US" b="1" baseline="0" dirty="0">
              <a:solidFill>
                <a:srgbClr val="92D050"/>
              </a:solidFill>
            </a:rPr>
            <a:t>55%</a:t>
          </a:r>
          <a:endParaRPr lang="en-US" b="0" baseline="0" dirty="0">
            <a:solidFill>
              <a:srgbClr val="92D050"/>
            </a:solidFill>
          </a:endParaRPr>
        </a:p>
        <a:p xmlns:a="http://schemas.openxmlformats.org/drawingml/2006/main">
          <a:r>
            <a:rPr lang="en-US" b="1" baseline="0" dirty="0">
              <a:solidFill>
                <a:schemeClr val="dk1"/>
              </a:solidFill>
            </a:rPr>
            <a:t>FY24: </a:t>
          </a:r>
          <a:r>
            <a:rPr lang="en-US" b="1" baseline="0" dirty="0">
              <a:solidFill>
                <a:srgbClr val="92D050"/>
              </a:solidFill>
            </a:rPr>
            <a:t>61%</a:t>
          </a:r>
          <a:br>
            <a:rPr lang="en-US" b="1" baseline="0" dirty="0">
              <a:solidFill>
                <a:schemeClr val="dk1"/>
              </a:solidFill>
            </a:rPr>
          </a:br>
          <a:r>
            <a:rPr lang="en-US" b="1" baseline="0" dirty="0">
              <a:solidFill>
                <a:schemeClr val="dk1"/>
              </a:solidFill>
            </a:rPr>
            <a:t>FY25: </a:t>
          </a:r>
          <a:r>
            <a:rPr lang="en-US" b="1" baseline="0" dirty="0">
              <a:solidFill>
                <a:srgbClr val="92D050"/>
              </a:solidFill>
            </a:rPr>
            <a:t>52%</a:t>
          </a:r>
          <a:endParaRPr lang="en-US" b="0" baseline="0" dirty="0">
            <a:solidFill>
              <a:srgbClr val="92D050"/>
            </a:solidFill>
          </a:endParaRPr>
        </a:p>
        <a:p xmlns:a="http://schemas.openxmlformats.org/drawingml/2006/main">
          <a:pPr algn="l"/>
          <a:endParaRPr lang="en-US" sz="1300" b="1" baseline="0" dirty="0">
            <a:solidFill>
              <a:schemeClr val="dk1"/>
            </a:solidFill>
            <a:latin typeface="+mn-lt"/>
            <a:ea typeface="+mn-ea"/>
            <a:cs typeface="+mn-cs"/>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0.01985</cdr:x>
      <cdr:y>0.05447</cdr:y>
    </cdr:from>
    <cdr:to>
      <cdr:x>0.32534</cdr:x>
      <cdr:y>0.21942</cdr:y>
    </cdr:to>
    <cdr:sp macro="" textlink="">
      <cdr:nvSpPr>
        <cdr:cNvPr id="2" name="TextBox 6">
          <a:extLst xmlns:a="http://schemas.openxmlformats.org/drawingml/2006/main">
            <a:ext uri="{FF2B5EF4-FFF2-40B4-BE49-F238E27FC236}">
              <a16:creationId xmlns:a16="http://schemas.microsoft.com/office/drawing/2014/main" id="{1E70DA14-0F14-1B43-2601-395DC307D1A2}"/>
            </a:ext>
          </a:extLst>
        </cdr:cNvPr>
        <cdr:cNvSpPr txBox="1"/>
      </cdr:nvSpPr>
      <cdr:spPr>
        <a:xfrm xmlns:a="http://schemas.openxmlformats.org/drawingml/2006/main">
          <a:off x="203200" y="393700"/>
          <a:ext cx="3126442" cy="1192307"/>
        </a:xfrm>
        <a:prstGeom xmlns:a="http://schemas.openxmlformats.org/drawingml/2006/main" prst="rect">
          <a:avLst/>
        </a:prstGeom>
        <a:solidFill xmlns:a="http://schemas.openxmlformats.org/drawingml/2006/main">
          <a:schemeClr val="lt1"/>
        </a:solidFill>
        <a:ln xmlns:a="http://schemas.openxmlformats.org/drawingml/2006/main" w="9525" cmpd="sng">
          <a:solidFill>
            <a:schemeClr val="lt1">
              <a:shade val="50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r>
            <a:rPr lang="en-US" sz="1400" dirty="0"/>
            <a:t>This</a:t>
          </a:r>
          <a:r>
            <a:rPr lang="en-US" sz="1400" baseline="0" dirty="0"/>
            <a:t> data is filtered by the Orthopedic units, tagged by RTC and their reasoning for their admit in this case these patients were here for </a:t>
          </a:r>
          <a:r>
            <a:rPr lang="en-US" sz="1400" baseline="0" dirty="0" err="1"/>
            <a:t>surgieres</a:t>
          </a:r>
          <a:r>
            <a:rPr lang="en-US" sz="1200" baseline="0" dirty="0"/>
            <a:t>.</a:t>
          </a:r>
          <a:endParaRPr lang="en-US" sz="1200" dirty="0"/>
        </a:p>
      </cdr:txBody>
    </cdr:sp>
  </cdr:relSizeAnchor>
</c:userShapes>
</file>

<file path=ppt/drawings/drawing3.xml><?xml version="1.0" encoding="utf-8"?>
<c:userShapes xmlns:c="http://schemas.openxmlformats.org/drawingml/2006/chart">
  <cdr:relSizeAnchor xmlns:cdr="http://schemas.openxmlformats.org/drawingml/2006/chartDrawing">
    <cdr:from>
      <cdr:x>0.03758</cdr:x>
      <cdr:y>0.06655</cdr:y>
    </cdr:from>
    <cdr:to>
      <cdr:x>0.24661</cdr:x>
      <cdr:y>0.29259</cdr:y>
    </cdr:to>
    <cdr:sp macro="" textlink="">
      <cdr:nvSpPr>
        <cdr:cNvPr id="2" name="TextBox 6">
          <a:extLst xmlns:a="http://schemas.openxmlformats.org/drawingml/2006/main">
            <a:ext uri="{FF2B5EF4-FFF2-40B4-BE49-F238E27FC236}">
              <a16:creationId xmlns:a16="http://schemas.microsoft.com/office/drawing/2014/main" id="{8E8D189D-F74A-A41F-7266-D71F925BD280}"/>
            </a:ext>
          </a:extLst>
        </cdr:cNvPr>
        <cdr:cNvSpPr txBox="1"/>
      </cdr:nvSpPr>
      <cdr:spPr>
        <a:xfrm xmlns:a="http://schemas.openxmlformats.org/drawingml/2006/main">
          <a:off x="457200" y="456368"/>
          <a:ext cx="2542838" cy="1550232"/>
        </a:xfrm>
        <a:prstGeom xmlns:a="http://schemas.openxmlformats.org/drawingml/2006/main" prst="rect">
          <a:avLst/>
        </a:prstGeom>
        <a:solidFill xmlns:a="http://schemas.openxmlformats.org/drawingml/2006/main">
          <a:schemeClr val="bg1"/>
        </a:solidFill>
      </cdr:spPr>
      <cdr:txBody>
        <a:bodyPr xmlns:a="http://schemas.openxmlformats.org/drawingml/2006/main" wrap="square" rtlCol="0">
          <a:spAutoFit/>
        </a:bodyPr>
        <a:lstStyle xmlns:a="http://schemas.openxmlformats.org/drawingml/2006/main">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xmlns:a="http://schemas.openxmlformats.org/drawingml/2006/main">
          <a:r>
            <a:rPr lang="en-US" sz="1600" dirty="0"/>
            <a:t>Ortho Surgery Volume</a:t>
          </a:r>
        </a:p>
        <a:p xmlns:a="http://schemas.openxmlformats.org/drawingml/2006/main">
          <a:r>
            <a:rPr lang="en-US" sz="1600" dirty="0"/>
            <a:t>FY22: 723</a:t>
          </a:r>
        </a:p>
        <a:p xmlns:a="http://schemas.openxmlformats.org/drawingml/2006/main">
          <a:r>
            <a:rPr lang="en-US" sz="1600" dirty="0"/>
            <a:t>FY23: 1,320</a:t>
          </a:r>
        </a:p>
        <a:p xmlns:a="http://schemas.openxmlformats.org/drawingml/2006/main">
          <a:r>
            <a:rPr lang="en-US" sz="1600" dirty="0"/>
            <a:t>FY24: 1,508</a:t>
          </a:r>
        </a:p>
        <a:p xmlns:a="http://schemas.openxmlformats.org/drawingml/2006/main">
          <a:r>
            <a:rPr lang="en-US" sz="1600" dirty="0"/>
            <a:t>FY25: 1,614	</a:t>
          </a:r>
          <a:endParaRPr lang="en-US"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C7FF13-156B-4BA2-B163-A472C1BABA2B}" type="datetimeFigureOut">
              <a:rPr lang="en-US" smtClean="0"/>
              <a:t>1/14/2026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E85997-ABF9-4478-8BC3-9823525ED0CD}" type="slidenum">
              <a:rPr lang="en-US" smtClean="0"/>
              <a:t>‹#›</a:t>
            </a:fld>
            <a:endParaRPr lang="en-US"/>
          </a:p>
        </p:txBody>
      </p:sp>
    </p:spTree>
    <p:extLst>
      <p:ext uri="{BB962C8B-B14F-4D97-AF65-F5344CB8AC3E}">
        <p14:creationId xmlns:p14="http://schemas.microsoft.com/office/powerpoint/2010/main" val="3614163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E85997-ABF9-4478-8BC3-9823525ED0CD}" type="slidenum">
              <a:rPr lang="en-US" smtClean="0"/>
              <a:t>2</a:t>
            </a:fld>
            <a:endParaRPr lang="en-US"/>
          </a:p>
        </p:txBody>
      </p:sp>
    </p:spTree>
    <p:extLst>
      <p:ext uri="{BB962C8B-B14F-4D97-AF65-F5344CB8AC3E}">
        <p14:creationId xmlns:p14="http://schemas.microsoft.com/office/powerpoint/2010/main" val="2206125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11DE6-8CA0-E550-57BE-03E2F09A16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FF9FB4-B94F-DAF6-5728-65E7FD6272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81B163-1560-007B-6367-837D455F5875}"/>
              </a:ext>
            </a:extLst>
          </p:cNvPr>
          <p:cNvSpPr>
            <a:spLocks noGrp="1"/>
          </p:cNvSpPr>
          <p:nvPr>
            <p:ph type="dt" sz="half" idx="10"/>
          </p:nvPr>
        </p:nvSpPr>
        <p:spPr/>
        <p:txBody>
          <a:bodyPr/>
          <a:lstStyle/>
          <a:p>
            <a:fld id="{60282D76-7A0C-41A2-9524-4727FF6C1D50}" type="datetimeFigureOut">
              <a:rPr lang="en-US" smtClean="0"/>
              <a:t>1/14/2026</a:t>
            </a:fld>
            <a:endParaRPr lang="en-US"/>
          </a:p>
        </p:txBody>
      </p:sp>
      <p:sp>
        <p:nvSpPr>
          <p:cNvPr id="5" name="Footer Placeholder 4">
            <a:extLst>
              <a:ext uri="{FF2B5EF4-FFF2-40B4-BE49-F238E27FC236}">
                <a16:creationId xmlns:a16="http://schemas.microsoft.com/office/drawing/2014/main" id="{1C46F935-A2C2-EE30-B3C9-57EE7C9FED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DDA14A-3650-54BB-C660-2E6D2A6280B6}"/>
              </a:ext>
            </a:extLst>
          </p:cNvPr>
          <p:cNvSpPr>
            <a:spLocks noGrp="1"/>
          </p:cNvSpPr>
          <p:nvPr>
            <p:ph type="sldNum" sz="quarter" idx="12"/>
          </p:nvPr>
        </p:nvSpPr>
        <p:spPr/>
        <p:txBody>
          <a:bodyPr/>
          <a:lstStyle/>
          <a:p>
            <a:fld id="{475AEEF1-1F0C-451D-96A2-16FAC1F3939A}" type="slidenum">
              <a:rPr lang="en-US" smtClean="0"/>
              <a:t>‹#›</a:t>
            </a:fld>
            <a:endParaRPr lang="en-US"/>
          </a:p>
        </p:txBody>
      </p:sp>
    </p:spTree>
    <p:extLst>
      <p:ext uri="{BB962C8B-B14F-4D97-AF65-F5344CB8AC3E}">
        <p14:creationId xmlns:p14="http://schemas.microsoft.com/office/powerpoint/2010/main" val="3269064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6DBF6-67D8-6810-07B4-45BA3AE2B8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D86E3B-04AD-D0C6-44A0-DF227F63E4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A20F9-F2C4-0008-35AC-E7A879F91663}"/>
              </a:ext>
            </a:extLst>
          </p:cNvPr>
          <p:cNvSpPr>
            <a:spLocks noGrp="1"/>
          </p:cNvSpPr>
          <p:nvPr>
            <p:ph type="dt" sz="half" idx="10"/>
          </p:nvPr>
        </p:nvSpPr>
        <p:spPr/>
        <p:txBody>
          <a:bodyPr/>
          <a:lstStyle/>
          <a:p>
            <a:fld id="{60282D76-7A0C-41A2-9524-4727FF6C1D50}" type="datetimeFigureOut">
              <a:rPr lang="en-US" smtClean="0"/>
              <a:t>1/14/2026</a:t>
            </a:fld>
            <a:endParaRPr lang="en-US"/>
          </a:p>
        </p:txBody>
      </p:sp>
      <p:sp>
        <p:nvSpPr>
          <p:cNvPr id="5" name="Footer Placeholder 4">
            <a:extLst>
              <a:ext uri="{FF2B5EF4-FFF2-40B4-BE49-F238E27FC236}">
                <a16:creationId xmlns:a16="http://schemas.microsoft.com/office/drawing/2014/main" id="{F1F64710-9F5A-2192-3B41-9A88509889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61B32-24AD-AFC8-A7C6-39FBC8B8D52E}"/>
              </a:ext>
            </a:extLst>
          </p:cNvPr>
          <p:cNvSpPr>
            <a:spLocks noGrp="1"/>
          </p:cNvSpPr>
          <p:nvPr>
            <p:ph type="sldNum" sz="quarter" idx="12"/>
          </p:nvPr>
        </p:nvSpPr>
        <p:spPr/>
        <p:txBody>
          <a:bodyPr/>
          <a:lstStyle/>
          <a:p>
            <a:fld id="{475AEEF1-1F0C-451D-96A2-16FAC1F3939A}" type="slidenum">
              <a:rPr lang="en-US" smtClean="0"/>
              <a:t>‹#›</a:t>
            </a:fld>
            <a:endParaRPr lang="en-US"/>
          </a:p>
        </p:txBody>
      </p:sp>
    </p:spTree>
    <p:extLst>
      <p:ext uri="{BB962C8B-B14F-4D97-AF65-F5344CB8AC3E}">
        <p14:creationId xmlns:p14="http://schemas.microsoft.com/office/powerpoint/2010/main" val="1489037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F1BB8-892E-3A2A-0631-098C91C506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88B9DE-9CFD-C0C7-E606-D0D3A007AD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56A842-E60A-0741-1AAC-A99E67A993B2}"/>
              </a:ext>
            </a:extLst>
          </p:cNvPr>
          <p:cNvSpPr>
            <a:spLocks noGrp="1"/>
          </p:cNvSpPr>
          <p:nvPr>
            <p:ph type="dt" sz="half" idx="10"/>
          </p:nvPr>
        </p:nvSpPr>
        <p:spPr/>
        <p:txBody>
          <a:bodyPr/>
          <a:lstStyle/>
          <a:p>
            <a:fld id="{60282D76-7A0C-41A2-9524-4727FF6C1D50}" type="datetimeFigureOut">
              <a:rPr lang="en-US" smtClean="0"/>
              <a:t>1/14/2026</a:t>
            </a:fld>
            <a:endParaRPr lang="en-US"/>
          </a:p>
        </p:txBody>
      </p:sp>
      <p:sp>
        <p:nvSpPr>
          <p:cNvPr id="5" name="Footer Placeholder 4">
            <a:extLst>
              <a:ext uri="{FF2B5EF4-FFF2-40B4-BE49-F238E27FC236}">
                <a16:creationId xmlns:a16="http://schemas.microsoft.com/office/drawing/2014/main" id="{CDCC2797-2447-C03C-2E36-FDDF960268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0DF315-4F61-DD23-4CE0-7DBCFC719B41}"/>
              </a:ext>
            </a:extLst>
          </p:cNvPr>
          <p:cNvSpPr>
            <a:spLocks noGrp="1"/>
          </p:cNvSpPr>
          <p:nvPr>
            <p:ph type="sldNum" sz="quarter" idx="12"/>
          </p:nvPr>
        </p:nvSpPr>
        <p:spPr/>
        <p:txBody>
          <a:bodyPr/>
          <a:lstStyle/>
          <a:p>
            <a:fld id="{475AEEF1-1F0C-451D-96A2-16FAC1F3939A}" type="slidenum">
              <a:rPr lang="en-US" smtClean="0"/>
              <a:t>‹#›</a:t>
            </a:fld>
            <a:endParaRPr lang="en-US"/>
          </a:p>
        </p:txBody>
      </p:sp>
    </p:spTree>
    <p:extLst>
      <p:ext uri="{BB962C8B-B14F-4D97-AF65-F5344CB8AC3E}">
        <p14:creationId xmlns:p14="http://schemas.microsoft.com/office/powerpoint/2010/main" val="2797275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B44D9-4ED1-5AB9-3905-17B2BE7D11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DBC313-1A99-1E1F-D33A-A7B144F269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72A2FB-D6AF-67C6-7622-8BDB6D9D82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EEE5D7-B962-52FC-8F84-DB29A3A3F053}"/>
              </a:ext>
            </a:extLst>
          </p:cNvPr>
          <p:cNvSpPr>
            <a:spLocks noGrp="1"/>
          </p:cNvSpPr>
          <p:nvPr>
            <p:ph type="dt" sz="half" idx="10"/>
          </p:nvPr>
        </p:nvSpPr>
        <p:spPr/>
        <p:txBody>
          <a:bodyPr/>
          <a:lstStyle/>
          <a:p>
            <a:fld id="{60282D76-7A0C-41A2-9524-4727FF6C1D50}" type="datetimeFigureOut">
              <a:rPr lang="en-US" smtClean="0"/>
              <a:t>1/14/2026</a:t>
            </a:fld>
            <a:endParaRPr lang="en-US"/>
          </a:p>
        </p:txBody>
      </p:sp>
      <p:sp>
        <p:nvSpPr>
          <p:cNvPr id="6" name="Footer Placeholder 5">
            <a:extLst>
              <a:ext uri="{FF2B5EF4-FFF2-40B4-BE49-F238E27FC236}">
                <a16:creationId xmlns:a16="http://schemas.microsoft.com/office/drawing/2014/main" id="{EE91BE15-7EB4-193F-04FA-8B54FAD67C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E2594C-F3D3-35BC-A5F2-EC68850B05E7}"/>
              </a:ext>
            </a:extLst>
          </p:cNvPr>
          <p:cNvSpPr>
            <a:spLocks noGrp="1"/>
          </p:cNvSpPr>
          <p:nvPr>
            <p:ph type="sldNum" sz="quarter" idx="12"/>
          </p:nvPr>
        </p:nvSpPr>
        <p:spPr/>
        <p:txBody>
          <a:bodyPr/>
          <a:lstStyle/>
          <a:p>
            <a:fld id="{475AEEF1-1F0C-451D-96A2-16FAC1F3939A}" type="slidenum">
              <a:rPr lang="en-US" smtClean="0"/>
              <a:t>‹#›</a:t>
            </a:fld>
            <a:endParaRPr lang="en-US"/>
          </a:p>
        </p:txBody>
      </p:sp>
    </p:spTree>
    <p:extLst>
      <p:ext uri="{BB962C8B-B14F-4D97-AF65-F5344CB8AC3E}">
        <p14:creationId xmlns:p14="http://schemas.microsoft.com/office/powerpoint/2010/main" val="4184233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42870-7E97-A065-B29E-2BBDDA0D04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B0581F-36D6-7E88-39DC-8E734D04D9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83954D-DDBD-1BA2-00EE-0003A56F86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5D3DA9-7273-07C8-731E-A78A9D1BB6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A52CCA-A4AF-A61B-4476-E45DF307AF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C3B9A8-321B-4BB6-7DA1-DF2D7F188980}"/>
              </a:ext>
            </a:extLst>
          </p:cNvPr>
          <p:cNvSpPr>
            <a:spLocks noGrp="1"/>
          </p:cNvSpPr>
          <p:nvPr>
            <p:ph type="dt" sz="half" idx="10"/>
          </p:nvPr>
        </p:nvSpPr>
        <p:spPr/>
        <p:txBody>
          <a:bodyPr/>
          <a:lstStyle/>
          <a:p>
            <a:fld id="{60282D76-7A0C-41A2-9524-4727FF6C1D50}" type="datetimeFigureOut">
              <a:rPr lang="en-US" smtClean="0"/>
              <a:t>1/14/2026</a:t>
            </a:fld>
            <a:endParaRPr lang="en-US"/>
          </a:p>
        </p:txBody>
      </p:sp>
      <p:sp>
        <p:nvSpPr>
          <p:cNvPr id="8" name="Footer Placeholder 7">
            <a:extLst>
              <a:ext uri="{FF2B5EF4-FFF2-40B4-BE49-F238E27FC236}">
                <a16:creationId xmlns:a16="http://schemas.microsoft.com/office/drawing/2014/main" id="{C8A5053F-BFA1-7E46-590E-078912E542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4414E0-6A2F-1A9E-0CF3-4A51B8E2117B}"/>
              </a:ext>
            </a:extLst>
          </p:cNvPr>
          <p:cNvSpPr>
            <a:spLocks noGrp="1"/>
          </p:cNvSpPr>
          <p:nvPr>
            <p:ph type="sldNum" sz="quarter" idx="12"/>
          </p:nvPr>
        </p:nvSpPr>
        <p:spPr/>
        <p:txBody>
          <a:bodyPr/>
          <a:lstStyle/>
          <a:p>
            <a:fld id="{475AEEF1-1F0C-451D-96A2-16FAC1F3939A}" type="slidenum">
              <a:rPr lang="en-US" smtClean="0"/>
              <a:t>‹#›</a:t>
            </a:fld>
            <a:endParaRPr lang="en-US"/>
          </a:p>
        </p:txBody>
      </p:sp>
    </p:spTree>
    <p:extLst>
      <p:ext uri="{BB962C8B-B14F-4D97-AF65-F5344CB8AC3E}">
        <p14:creationId xmlns:p14="http://schemas.microsoft.com/office/powerpoint/2010/main" val="927333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C6D0E-ADA5-A179-551C-72DC774F13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4E10C7-E528-F98A-9D50-44F2A27AB4A2}"/>
              </a:ext>
            </a:extLst>
          </p:cNvPr>
          <p:cNvSpPr>
            <a:spLocks noGrp="1"/>
          </p:cNvSpPr>
          <p:nvPr>
            <p:ph type="dt" sz="half" idx="10"/>
          </p:nvPr>
        </p:nvSpPr>
        <p:spPr/>
        <p:txBody>
          <a:bodyPr/>
          <a:lstStyle/>
          <a:p>
            <a:fld id="{60282D76-7A0C-41A2-9524-4727FF6C1D50}" type="datetimeFigureOut">
              <a:rPr lang="en-US" smtClean="0"/>
              <a:t>1/14/2026</a:t>
            </a:fld>
            <a:endParaRPr lang="en-US"/>
          </a:p>
        </p:txBody>
      </p:sp>
      <p:sp>
        <p:nvSpPr>
          <p:cNvPr id="4" name="Footer Placeholder 3">
            <a:extLst>
              <a:ext uri="{FF2B5EF4-FFF2-40B4-BE49-F238E27FC236}">
                <a16:creationId xmlns:a16="http://schemas.microsoft.com/office/drawing/2014/main" id="{B2BC5D5F-73F5-775D-D0E3-E217443E8D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C461C7-6592-6FCF-5F9A-A1AF681EE584}"/>
              </a:ext>
            </a:extLst>
          </p:cNvPr>
          <p:cNvSpPr>
            <a:spLocks noGrp="1"/>
          </p:cNvSpPr>
          <p:nvPr>
            <p:ph type="sldNum" sz="quarter" idx="12"/>
          </p:nvPr>
        </p:nvSpPr>
        <p:spPr/>
        <p:txBody>
          <a:bodyPr/>
          <a:lstStyle/>
          <a:p>
            <a:fld id="{475AEEF1-1F0C-451D-96A2-16FAC1F3939A}" type="slidenum">
              <a:rPr lang="en-US" smtClean="0"/>
              <a:t>‹#›</a:t>
            </a:fld>
            <a:endParaRPr lang="en-US"/>
          </a:p>
        </p:txBody>
      </p:sp>
    </p:spTree>
    <p:extLst>
      <p:ext uri="{BB962C8B-B14F-4D97-AF65-F5344CB8AC3E}">
        <p14:creationId xmlns:p14="http://schemas.microsoft.com/office/powerpoint/2010/main" val="4230850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D3CC9F-5D36-2CF1-55BF-8194D2E68FE4}"/>
              </a:ext>
            </a:extLst>
          </p:cNvPr>
          <p:cNvSpPr>
            <a:spLocks noGrp="1"/>
          </p:cNvSpPr>
          <p:nvPr>
            <p:ph type="dt" sz="half" idx="10"/>
          </p:nvPr>
        </p:nvSpPr>
        <p:spPr/>
        <p:txBody>
          <a:bodyPr/>
          <a:lstStyle/>
          <a:p>
            <a:fld id="{60282D76-7A0C-41A2-9524-4727FF6C1D50}" type="datetimeFigureOut">
              <a:rPr lang="en-US" smtClean="0"/>
              <a:t>1/14/2026</a:t>
            </a:fld>
            <a:endParaRPr lang="en-US"/>
          </a:p>
        </p:txBody>
      </p:sp>
      <p:sp>
        <p:nvSpPr>
          <p:cNvPr id="3" name="Footer Placeholder 2">
            <a:extLst>
              <a:ext uri="{FF2B5EF4-FFF2-40B4-BE49-F238E27FC236}">
                <a16:creationId xmlns:a16="http://schemas.microsoft.com/office/drawing/2014/main" id="{C2EA8780-6046-2C7B-4BD7-814C7F54A4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4F44A1-C66E-2B71-D311-C170CFAD402C}"/>
              </a:ext>
            </a:extLst>
          </p:cNvPr>
          <p:cNvSpPr>
            <a:spLocks noGrp="1"/>
          </p:cNvSpPr>
          <p:nvPr>
            <p:ph type="sldNum" sz="quarter" idx="12"/>
          </p:nvPr>
        </p:nvSpPr>
        <p:spPr/>
        <p:txBody>
          <a:bodyPr/>
          <a:lstStyle/>
          <a:p>
            <a:fld id="{475AEEF1-1F0C-451D-96A2-16FAC1F3939A}" type="slidenum">
              <a:rPr lang="en-US" smtClean="0"/>
              <a:t>‹#›</a:t>
            </a:fld>
            <a:endParaRPr lang="en-US"/>
          </a:p>
        </p:txBody>
      </p:sp>
    </p:spTree>
    <p:extLst>
      <p:ext uri="{BB962C8B-B14F-4D97-AF65-F5344CB8AC3E}">
        <p14:creationId xmlns:p14="http://schemas.microsoft.com/office/powerpoint/2010/main" val="924864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84E16-36D1-30B1-9EF4-1BA703793B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B058F3-634D-00EE-666B-0456772E3B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BBCF6E-8FE8-BF29-CCC6-AC0056B140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3064B2-0830-9732-78D5-A67DAB1EEB0D}"/>
              </a:ext>
            </a:extLst>
          </p:cNvPr>
          <p:cNvSpPr>
            <a:spLocks noGrp="1"/>
          </p:cNvSpPr>
          <p:nvPr>
            <p:ph type="dt" sz="half" idx="10"/>
          </p:nvPr>
        </p:nvSpPr>
        <p:spPr/>
        <p:txBody>
          <a:bodyPr/>
          <a:lstStyle/>
          <a:p>
            <a:fld id="{60282D76-7A0C-41A2-9524-4727FF6C1D50}" type="datetimeFigureOut">
              <a:rPr lang="en-US" smtClean="0"/>
              <a:t>1/14/2026</a:t>
            </a:fld>
            <a:endParaRPr lang="en-US"/>
          </a:p>
        </p:txBody>
      </p:sp>
      <p:sp>
        <p:nvSpPr>
          <p:cNvPr id="6" name="Footer Placeholder 5">
            <a:extLst>
              <a:ext uri="{FF2B5EF4-FFF2-40B4-BE49-F238E27FC236}">
                <a16:creationId xmlns:a16="http://schemas.microsoft.com/office/drawing/2014/main" id="{53A612EC-DADE-AB8A-3D81-B99C9A742B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242D83-A397-024A-91B5-E0C1F735C0C8}"/>
              </a:ext>
            </a:extLst>
          </p:cNvPr>
          <p:cNvSpPr>
            <a:spLocks noGrp="1"/>
          </p:cNvSpPr>
          <p:nvPr>
            <p:ph type="sldNum" sz="quarter" idx="12"/>
          </p:nvPr>
        </p:nvSpPr>
        <p:spPr/>
        <p:txBody>
          <a:bodyPr/>
          <a:lstStyle/>
          <a:p>
            <a:fld id="{475AEEF1-1F0C-451D-96A2-16FAC1F3939A}" type="slidenum">
              <a:rPr lang="en-US" smtClean="0"/>
              <a:t>‹#›</a:t>
            </a:fld>
            <a:endParaRPr lang="en-US"/>
          </a:p>
        </p:txBody>
      </p:sp>
    </p:spTree>
    <p:extLst>
      <p:ext uri="{BB962C8B-B14F-4D97-AF65-F5344CB8AC3E}">
        <p14:creationId xmlns:p14="http://schemas.microsoft.com/office/powerpoint/2010/main" val="3489124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B56FA-93B0-2973-6905-F74D9D43EF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9EFA83-6DA7-8426-5387-E9D839C130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CF7F03-FB77-D40E-F8FF-59DB4534D3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B37C16-5D14-BE0B-EA37-B43CC6719D27}"/>
              </a:ext>
            </a:extLst>
          </p:cNvPr>
          <p:cNvSpPr>
            <a:spLocks noGrp="1"/>
          </p:cNvSpPr>
          <p:nvPr>
            <p:ph type="dt" sz="half" idx="10"/>
          </p:nvPr>
        </p:nvSpPr>
        <p:spPr/>
        <p:txBody>
          <a:bodyPr/>
          <a:lstStyle/>
          <a:p>
            <a:fld id="{60282D76-7A0C-41A2-9524-4727FF6C1D50}" type="datetimeFigureOut">
              <a:rPr lang="en-US" smtClean="0"/>
              <a:t>1/14/2026</a:t>
            </a:fld>
            <a:endParaRPr lang="en-US"/>
          </a:p>
        </p:txBody>
      </p:sp>
      <p:sp>
        <p:nvSpPr>
          <p:cNvPr id="6" name="Footer Placeholder 5">
            <a:extLst>
              <a:ext uri="{FF2B5EF4-FFF2-40B4-BE49-F238E27FC236}">
                <a16:creationId xmlns:a16="http://schemas.microsoft.com/office/drawing/2014/main" id="{80913D71-022B-2BC7-D2AF-2369974A9B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3A5096-AB82-CC7E-6D1F-FAF2A559430D}"/>
              </a:ext>
            </a:extLst>
          </p:cNvPr>
          <p:cNvSpPr>
            <a:spLocks noGrp="1"/>
          </p:cNvSpPr>
          <p:nvPr>
            <p:ph type="sldNum" sz="quarter" idx="12"/>
          </p:nvPr>
        </p:nvSpPr>
        <p:spPr/>
        <p:txBody>
          <a:bodyPr/>
          <a:lstStyle/>
          <a:p>
            <a:fld id="{475AEEF1-1F0C-451D-96A2-16FAC1F3939A}" type="slidenum">
              <a:rPr lang="en-US" smtClean="0"/>
              <a:t>‹#›</a:t>
            </a:fld>
            <a:endParaRPr lang="en-US"/>
          </a:p>
        </p:txBody>
      </p:sp>
    </p:spTree>
    <p:extLst>
      <p:ext uri="{BB962C8B-B14F-4D97-AF65-F5344CB8AC3E}">
        <p14:creationId xmlns:p14="http://schemas.microsoft.com/office/powerpoint/2010/main" val="429226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124BC-48CD-6AAA-BC7B-0E82DEAF1F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84289A-2A96-1443-B68C-34BD8C117B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14C3B7-FBEC-AE84-495A-B1EAF33DBEA4}"/>
              </a:ext>
            </a:extLst>
          </p:cNvPr>
          <p:cNvSpPr>
            <a:spLocks noGrp="1"/>
          </p:cNvSpPr>
          <p:nvPr>
            <p:ph type="dt" sz="half" idx="10"/>
          </p:nvPr>
        </p:nvSpPr>
        <p:spPr/>
        <p:txBody>
          <a:bodyPr/>
          <a:lstStyle/>
          <a:p>
            <a:fld id="{60282D76-7A0C-41A2-9524-4727FF6C1D50}" type="datetimeFigureOut">
              <a:rPr lang="en-US" smtClean="0"/>
              <a:t>1/14/2026</a:t>
            </a:fld>
            <a:endParaRPr lang="en-US"/>
          </a:p>
        </p:txBody>
      </p:sp>
      <p:sp>
        <p:nvSpPr>
          <p:cNvPr id="5" name="Footer Placeholder 4">
            <a:extLst>
              <a:ext uri="{FF2B5EF4-FFF2-40B4-BE49-F238E27FC236}">
                <a16:creationId xmlns:a16="http://schemas.microsoft.com/office/drawing/2014/main" id="{6122C97C-7DDE-54BF-4F19-52A7368F0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46D17D-0102-41EB-E35C-75DA408F9657}"/>
              </a:ext>
            </a:extLst>
          </p:cNvPr>
          <p:cNvSpPr>
            <a:spLocks noGrp="1"/>
          </p:cNvSpPr>
          <p:nvPr>
            <p:ph type="sldNum" sz="quarter" idx="12"/>
          </p:nvPr>
        </p:nvSpPr>
        <p:spPr/>
        <p:txBody>
          <a:bodyPr/>
          <a:lstStyle/>
          <a:p>
            <a:fld id="{475AEEF1-1F0C-451D-96A2-16FAC1F3939A}" type="slidenum">
              <a:rPr lang="en-US" smtClean="0"/>
              <a:t>‹#›</a:t>
            </a:fld>
            <a:endParaRPr lang="en-US"/>
          </a:p>
        </p:txBody>
      </p:sp>
    </p:spTree>
    <p:extLst>
      <p:ext uri="{BB962C8B-B14F-4D97-AF65-F5344CB8AC3E}">
        <p14:creationId xmlns:p14="http://schemas.microsoft.com/office/powerpoint/2010/main" val="1486723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56699B-E8EF-5C6B-4F05-24C9A7E991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0EBBF5-2AEF-51DE-5B14-9C24DFE225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890A4B-3F9E-4FCD-C8A3-80780B583254}"/>
              </a:ext>
            </a:extLst>
          </p:cNvPr>
          <p:cNvSpPr>
            <a:spLocks noGrp="1"/>
          </p:cNvSpPr>
          <p:nvPr>
            <p:ph type="dt" sz="half" idx="10"/>
          </p:nvPr>
        </p:nvSpPr>
        <p:spPr/>
        <p:txBody>
          <a:bodyPr/>
          <a:lstStyle/>
          <a:p>
            <a:fld id="{60282D76-7A0C-41A2-9524-4727FF6C1D50}" type="datetimeFigureOut">
              <a:rPr lang="en-US" smtClean="0"/>
              <a:t>1/14/2026</a:t>
            </a:fld>
            <a:endParaRPr lang="en-US"/>
          </a:p>
        </p:txBody>
      </p:sp>
      <p:sp>
        <p:nvSpPr>
          <p:cNvPr id="5" name="Footer Placeholder 4">
            <a:extLst>
              <a:ext uri="{FF2B5EF4-FFF2-40B4-BE49-F238E27FC236}">
                <a16:creationId xmlns:a16="http://schemas.microsoft.com/office/drawing/2014/main" id="{6F0D80A1-54DB-1FF4-0F67-C93BC21098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2B8F7F-EFDD-7183-B799-BE6F15CB3D27}"/>
              </a:ext>
            </a:extLst>
          </p:cNvPr>
          <p:cNvSpPr>
            <a:spLocks noGrp="1"/>
          </p:cNvSpPr>
          <p:nvPr>
            <p:ph type="sldNum" sz="quarter" idx="12"/>
          </p:nvPr>
        </p:nvSpPr>
        <p:spPr/>
        <p:txBody>
          <a:bodyPr/>
          <a:lstStyle/>
          <a:p>
            <a:fld id="{475AEEF1-1F0C-451D-96A2-16FAC1F3939A}" type="slidenum">
              <a:rPr lang="en-US" smtClean="0"/>
              <a:t>‹#›</a:t>
            </a:fld>
            <a:endParaRPr lang="en-US"/>
          </a:p>
        </p:txBody>
      </p:sp>
    </p:spTree>
    <p:extLst>
      <p:ext uri="{BB962C8B-B14F-4D97-AF65-F5344CB8AC3E}">
        <p14:creationId xmlns:p14="http://schemas.microsoft.com/office/powerpoint/2010/main" val="2957788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341C0D-160C-F01D-2FB8-989E1E67A5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730822-6B46-F8AD-455D-4B92D4604F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16E02E-10CC-2DD5-2702-A1DC4EC31E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282D76-7A0C-41A2-9524-4727FF6C1D50}" type="datetimeFigureOut">
              <a:rPr lang="en-US" smtClean="0"/>
              <a:t>1/14/2026</a:t>
            </a:fld>
            <a:endParaRPr lang="en-US"/>
          </a:p>
        </p:txBody>
      </p:sp>
      <p:sp>
        <p:nvSpPr>
          <p:cNvPr id="5" name="Footer Placeholder 4">
            <a:extLst>
              <a:ext uri="{FF2B5EF4-FFF2-40B4-BE49-F238E27FC236}">
                <a16:creationId xmlns:a16="http://schemas.microsoft.com/office/drawing/2014/main" id="{7D0B2ABC-BCF4-3B58-A9C9-E37AA80F20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EC1B00-47B0-F02A-F704-94CD3C273B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5AEEF1-1F0C-451D-96A2-16FAC1F3939A}" type="slidenum">
              <a:rPr lang="en-US" smtClean="0"/>
              <a:t>‹#›</a:t>
            </a:fld>
            <a:endParaRPr lang="en-US"/>
          </a:p>
        </p:txBody>
      </p:sp>
    </p:spTree>
    <p:extLst>
      <p:ext uri="{BB962C8B-B14F-4D97-AF65-F5344CB8AC3E}">
        <p14:creationId xmlns:p14="http://schemas.microsoft.com/office/powerpoint/2010/main" val="1628596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D53FE-6B25-FAF7-E29E-A3963D488D7F}"/>
              </a:ext>
            </a:extLst>
          </p:cNvPr>
          <p:cNvSpPr>
            <a:spLocks noGrp="1"/>
          </p:cNvSpPr>
          <p:nvPr>
            <p:ph type="ctrTitle"/>
          </p:nvPr>
        </p:nvSpPr>
        <p:spPr>
          <a:xfrm>
            <a:off x="1524000" y="150813"/>
            <a:ext cx="9144000" cy="1163637"/>
          </a:xfrm>
        </p:spPr>
        <p:txBody>
          <a:bodyPr/>
          <a:lstStyle/>
          <a:p>
            <a:r>
              <a:rPr lang="en-US" dirty="0"/>
              <a:t>Objective</a:t>
            </a:r>
          </a:p>
        </p:txBody>
      </p:sp>
      <p:sp>
        <p:nvSpPr>
          <p:cNvPr id="3" name="Subtitle 2">
            <a:extLst>
              <a:ext uri="{FF2B5EF4-FFF2-40B4-BE49-F238E27FC236}">
                <a16:creationId xmlns:a16="http://schemas.microsoft.com/office/drawing/2014/main" id="{4D35523D-B44F-9D38-1A59-B8D0728A7855}"/>
              </a:ext>
            </a:extLst>
          </p:cNvPr>
          <p:cNvSpPr>
            <a:spLocks noGrp="1"/>
          </p:cNvSpPr>
          <p:nvPr>
            <p:ph type="subTitle" idx="1"/>
          </p:nvPr>
        </p:nvSpPr>
        <p:spPr>
          <a:xfrm>
            <a:off x="342899" y="1590675"/>
            <a:ext cx="11172825" cy="4752975"/>
          </a:xfrm>
        </p:spPr>
        <p:txBody>
          <a:bodyPr>
            <a:normAutofit/>
          </a:bodyPr>
          <a:lstStyle/>
          <a:p>
            <a:pPr algn="l"/>
            <a:r>
              <a:rPr lang="en-US" dirty="0"/>
              <a:t>The Objective of this data is to improve Patient Flow, Capacity and Patient Satisfaction. The Volume &amp; Percent of Discharges before 1300 shows the varying volume over the years and the increase of discharging before 1:00pm. The Average LOS was converted into hours as the data raw data was converted into days. We can see the Length of stay hasn't really decreased comparing 2024 and 2025 and a decrease in discharges in 2025 as well with the discharges before 1:00pm. Same for discharges before 11:00am there is a decrease from 2024 and 2025 although the data filled all the way for 2025. There are sharp decline on discharges comparing the months present.</a:t>
            </a:r>
          </a:p>
        </p:txBody>
      </p:sp>
    </p:spTree>
    <p:extLst>
      <p:ext uri="{BB962C8B-B14F-4D97-AF65-F5344CB8AC3E}">
        <p14:creationId xmlns:p14="http://schemas.microsoft.com/office/powerpoint/2010/main" val="345619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7B5EB03E-81F2-44BD-EA9E-8799D03858B0}"/>
              </a:ext>
            </a:extLst>
          </p:cNvPr>
          <p:cNvGraphicFramePr>
            <a:graphicFrameLocks/>
          </p:cNvGraphicFramePr>
          <p:nvPr>
            <p:extLst>
              <p:ext uri="{D42A27DB-BD31-4B8C-83A1-F6EECF244321}">
                <p14:modId xmlns:p14="http://schemas.microsoft.com/office/powerpoint/2010/main" val="2504863613"/>
              </p:ext>
            </p:extLst>
          </p:nvPr>
        </p:nvGraphicFramePr>
        <p:xfrm>
          <a:off x="0" y="0"/>
          <a:ext cx="12192000" cy="6858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4">
            <a:extLst>
              <a:ext uri="{FF2B5EF4-FFF2-40B4-BE49-F238E27FC236}">
                <a16:creationId xmlns:a16="http://schemas.microsoft.com/office/drawing/2014/main" id="{531282C9-00CB-5A6D-4BEC-CCEB47E0797A}"/>
              </a:ext>
            </a:extLst>
          </p:cNvPr>
          <p:cNvSpPr txBox="1"/>
          <p:nvPr/>
        </p:nvSpPr>
        <p:spPr>
          <a:xfrm>
            <a:off x="920755" y="173037"/>
            <a:ext cx="2406639" cy="968375"/>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defPPr>
              <a:defRPr lang="en-US"/>
            </a:defPPr>
            <a:lvl1pPr marL="0" indent="0" algn="l" defTabSz="457200" rtl="0" eaLnBrk="0" fontAlgn="base" hangingPunct="0">
              <a:spcBef>
                <a:spcPct val="0"/>
              </a:spcBef>
              <a:spcAft>
                <a:spcPct val="0"/>
              </a:spcAft>
              <a:defRPr sz="1100" kern="1200">
                <a:solidFill>
                  <a:schemeClr val="dk1"/>
                </a:solidFill>
                <a:latin typeface="+mn-lt"/>
                <a:ea typeface="+mn-ea"/>
                <a:cs typeface="+mn-cs"/>
              </a:defRPr>
            </a:lvl1pPr>
            <a:lvl2pPr marL="457200" indent="0" algn="l" defTabSz="457200" rtl="0" eaLnBrk="0" fontAlgn="base" hangingPunct="0">
              <a:spcBef>
                <a:spcPct val="0"/>
              </a:spcBef>
              <a:spcAft>
                <a:spcPct val="0"/>
              </a:spcAft>
              <a:defRPr sz="1100" kern="1200">
                <a:solidFill>
                  <a:schemeClr val="dk1"/>
                </a:solidFill>
                <a:latin typeface="+mn-lt"/>
                <a:ea typeface="+mn-ea"/>
                <a:cs typeface="+mn-cs"/>
              </a:defRPr>
            </a:lvl2pPr>
            <a:lvl3pPr marL="914400" indent="0" algn="l" defTabSz="457200" rtl="0" eaLnBrk="0" fontAlgn="base" hangingPunct="0">
              <a:spcBef>
                <a:spcPct val="0"/>
              </a:spcBef>
              <a:spcAft>
                <a:spcPct val="0"/>
              </a:spcAft>
              <a:defRPr sz="1100" kern="1200">
                <a:solidFill>
                  <a:schemeClr val="dk1"/>
                </a:solidFill>
                <a:latin typeface="+mn-lt"/>
                <a:ea typeface="+mn-ea"/>
                <a:cs typeface="+mn-cs"/>
              </a:defRPr>
            </a:lvl3pPr>
            <a:lvl4pPr marL="1371600" indent="0" algn="l" defTabSz="457200" rtl="0" eaLnBrk="0" fontAlgn="base" hangingPunct="0">
              <a:spcBef>
                <a:spcPct val="0"/>
              </a:spcBef>
              <a:spcAft>
                <a:spcPct val="0"/>
              </a:spcAft>
              <a:defRPr sz="1100" kern="1200">
                <a:solidFill>
                  <a:schemeClr val="dk1"/>
                </a:solidFill>
                <a:latin typeface="+mn-lt"/>
                <a:ea typeface="+mn-ea"/>
                <a:cs typeface="+mn-cs"/>
              </a:defRPr>
            </a:lvl4pPr>
            <a:lvl5pPr marL="1828800" indent="0" algn="l" defTabSz="457200" rtl="0" eaLnBrk="0" fontAlgn="base" hangingPunct="0">
              <a:spcBef>
                <a:spcPct val="0"/>
              </a:spcBef>
              <a:spcAft>
                <a:spcPct val="0"/>
              </a:spcAft>
              <a:defRPr sz="1100" kern="1200">
                <a:solidFill>
                  <a:schemeClr val="dk1"/>
                </a:solidFill>
                <a:latin typeface="+mn-lt"/>
                <a:ea typeface="+mn-ea"/>
                <a:cs typeface="+mn-cs"/>
              </a:defRPr>
            </a:lvl5pPr>
            <a:lvl6pPr marL="2286000" indent="0" algn="l" defTabSz="914400" rtl="0" eaLnBrk="1" latinLnBrk="0" hangingPunct="1">
              <a:defRPr sz="1100" kern="1200">
                <a:solidFill>
                  <a:schemeClr val="dk1"/>
                </a:solidFill>
                <a:latin typeface="+mn-lt"/>
                <a:ea typeface="+mn-ea"/>
                <a:cs typeface="+mn-cs"/>
              </a:defRPr>
            </a:lvl6pPr>
            <a:lvl7pPr marL="2743200" indent="0" algn="l" defTabSz="914400" rtl="0" eaLnBrk="1" latinLnBrk="0" hangingPunct="1">
              <a:defRPr sz="1100" kern="1200">
                <a:solidFill>
                  <a:schemeClr val="dk1"/>
                </a:solidFill>
                <a:latin typeface="+mn-lt"/>
                <a:ea typeface="+mn-ea"/>
                <a:cs typeface="+mn-cs"/>
              </a:defRPr>
            </a:lvl7pPr>
            <a:lvl8pPr marL="3200400" indent="0" algn="l" defTabSz="914400" rtl="0" eaLnBrk="1" latinLnBrk="0" hangingPunct="1">
              <a:defRPr sz="1100" kern="1200">
                <a:solidFill>
                  <a:schemeClr val="dk1"/>
                </a:solidFill>
                <a:latin typeface="+mn-lt"/>
                <a:ea typeface="+mn-ea"/>
                <a:cs typeface="+mn-cs"/>
              </a:defRPr>
            </a:lvl8pPr>
            <a:lvl9pPr marL="3657600" indent="0" algn="l" defTabSz="914400" rtl="0" eaLnBrk="1" latinLnBrk="0" hangingPunct="1">
              <a:defRPr sz="1100" kern="1200">
                <a:solidFill>
                  <a:schemeClr val="dk1"/>
                </a:solidFill>
                <a:latin typeface="+mn-lt"/>
                <a:ea typeface="+mn-ea"/>
                <a:cs typeface="+mn-cs"/>
              </a:defRPr>
            </a:lvl9pPr>
          </a:lstStyle>
          <a:p>
            <a:r>
              <a:rPr lang="en-US" b="1" u="sng" dirty="0"/>
              <a:t>Average</a:t>
            </a:r>
            <a:r>
              <a:rPr lang="en-US" b="1" u="sng" baseline="0" dirty="0"/>
              <a:t> LOS BY Hour</a:t>
            </a:r>
            <a:br>
              <a:rPr lang="en-US" baseline="0" dirty="0"/>
            </a:br>
            <a:r>
              <a:rPr lang="en-US" b="1" baseline="0" dirty="0"/>
              <a:t>FY22: </a:t>
            </a:r>
            <a:r>
              <a:rPr lang="en-US" baseline="0" dirty="0"/>
              <a:t>NA</a:t>
            </a:r>
            <a:br>
              <a:rPr lang="en-US" baseline="0" dirty="0"/>
            </a:br>
            <a:r>
              <a:rPr lang="en-US" b="1" baseline="0" dirty="0">
                <a:solidFill>
                  <a:schemeClr val="dk1"/>
                </a:solidFill>
              </a:rPr>
              <a:t>FY23: </a:t>
            </a:r>
            <a:r>
              <a:rPr lang="en-US" baseline="0" dirty="0">
                <a:solidFill>
                  <a:schemeClr val="dk1"/>
                </a:solidFill>
              </a:rPr>
              <a:t>39.9</a:t>
            </a:r>
            <a:r>
              <a:rPr lang="en-US" b="0" baseline="0" dirty="0">
                <a:solidFill>
                  <a:schemeClr val="dk1"/>
                </a:solidFill>
              </a:rPr>
              <a:t>hr</a:t>
            </a:r>
          </a:p>
          <a:p>
            <a:r>
              <a:rPr lang="en-US" b="1" baseline="0" dirty="0">
                <a:solidFill>
                  <a:schemeClr val="dk1"/>
                </a:solidFill>
              </a:rPr>
              <a:t>FY24: </a:t>
            </a:r>
            <a:r>
              <a:rPr lang="en-US" b="0" baseline="0" dirty="0">
                <a:solidFill>
                  <a:schemeClr val="dk1"/>
                </a:solidFill>
              </a:rPr>
              <a:t> 37.9hr</a:t>
            </a:r>
            <a:br>
              <a:rPr lang="en-US" b="1" baseline="0" dirty="0">
                <a:solidFill>
                  <a:schemeClr val="dk1"/>
                </a:solidFill>
              </a:rPr>
            </a:br>
            <a:r>
              <a:rPr lang="en-US" b="1" baseline="0" dirty="0">
                <a:solidFill>
                  <a:schemeClr val="dk1"/>
                </a:solidFill>
              </a:rPr>
              <a:t>FY25: </a:t>
            </a:r>
            <a:r>
              <a:rPr lang="en-US" b="0" baseline="0" dirty="0">
                <a:solidFill>
                  <a:schemeClr val="dk1"/>
                </a:solidFill>
              </a:rPr>
              <a:t> 36.1hr</a:t>
            </a:r>
          </a:p>
        </p:txBody>
      </p:sp>
    </p:spTree>
    <p:extLst>
      <p:ext uri="{BB962C8B-B14F-4D97-AF65-F5344CB8AC3E}">
        <p14:creationId xmlns:p14="http://schemas.microsoft.com/office/powerpoint/2010/main" val="728062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C5D7C22F-337B-2E88-6869-78A2BEF98875}"/>
              </a:ext>
            </a:extLst>
          </p:cNvPr>
          <p:cNvGraphicFramePr>
            <a:graphicFrameLocks/>
          </p:cNvGraphicFramePr>
          <p:nvPr>
            <p:extLst>
              <p:ext uri="{D42A27DB-BD31-4B8C-83A1-F6EECF244321}">
                <p14:modId xmlns:p14="http://schemas.microsoft.com/office/powerpoint/2010/main" val="2913872757"/>
              </p:ext>
            </p:extLst>
          </p:nvPr>
        </p:nvGraphicFramePr>
        <p:xfrm>
          <a:off x="0" y="0"/>
          <a:ext cx="12192000" cy="685800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4">
            <a:extLst>
              <a:ext uri="{FF2B5EF4-FFF2-40B4-BE49-F238E27FC236}">
                <a16:creationId xmlns:a16="http://schemas.microsoft.com/office/drawing/2014/main" id="{4D358967-0A5D-EB1E-80C3-75899BA5296D}"/>
              </a:ext>
            </a:extLst>
          </p:cNvPr>
          <p:cNvSpPr txBox="1"/>
          <p:nvPr/>
        </p:nvSpPr>
        <p:spPr>
          <a:xfrm>
            <a:off x="704848" y="585133"/>
            <a:ext cx="3208867" cy="103953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400" b="1" u="sng" dirty="0"/>
              <a:t>Average</a:t>
            </a:r>
            <a:r>
              <a:rPr lang="en-US" sz="1400" b="1" u="sng" baseline="0" dirty="0"/>
              <a:t> LOS BY Hour</a:t>
            </a:r>
            <a:br>
              <a:rPr lang="en-US" sz="1800" baseline="0" dirty="0"/>
            </a:br>
            <a:r>
              <a:rPr lang="en-US" sz="1200" b="1" baseline="0" dirty="0"/>
              <a:t>FY22: </a:t>
            </a:r>
            <a:r>
              <a:rPr lang="en-US" sz="1200" baseline="0" dirty="0"/>
              <a:t>29.0 </a:t>
            </a:r>
            <a:r>
              <a:rPr lang="en-US" sz="1200" baseline="0" dirty="0" err="1"/>
              <a:t>hr</a:t>
            </a:r>
            <a:br>
              <a:rPr lang="en-US" sz="1200" baseline="0" dirty="0"/>
            </a:br>
            <a:r>
              <a:rPr lang="en-US" sz="1200" b="1" baseline="0" dirty="0">
                <a:solidFill>
                  <a:schemeClr val="dk1"/>
                </a:solidFill>
                <a:latin typeface="+mn-lt"/>
                <a:ea typeface="+mn-ea"/>
                <a:cs typeface="+mn-cs"/>
              </a:rPr>
              <a:t>FY23: </a:t>
            </a:r>
            <a:r>
              <a:rPr lang="en-US" sz="1200" b="0" baseline="0" dirty="0">
                <a:solidFill>
                  <a:schemeClr val="dk1"/>
                </a:solidFill>
                <a:latin typeface="+mn-lt"/>
                <a:ea typeface="+mn-ea"/>
                <a:cs typeface="+mn-cs"/>
              </a:rPr>
              <a:t>32.2</a:t>
            </a:r>
            <a:r>
              <a:rPr lang="en-US" sz="1200" b="1" baseline="0" dirty="0">
                <a:solidFill>
                  <a:schemeClr val="dk1"/>
                </a:solidFill>
                <a:latin typeface="+mn-lt"/>
                <a:ea typeface="+mn-ea"/>
                <a:cs typeface="+mn-cs"/>
              </a:rPr>
              <a:t> </a:t>
            </a:r>
            <a:r>
              <a:rPr lang="en-US" sz="1200" b="0" baseline="0" dirty="0" err="1">
                <a:solidFill>
                  <a:schemeClr val="dk1"/>
                </a:solidFill>
                <a:latin typeface="+mn-lt"/>
                <a:ea typeface="+mn-ea"/>
                <a:cs typeface="+mn-cs"/>
              </a:rPr>
              <a:t>hr</a:t>
            </a:r>
            <a:endParaRPr lang="en-US" sz="1200" b="0" baseline="0" dirty="0">
              <a:solidFill>
                <a:schemeClr val="dk1"/>
              </a:solidFill>
              <a:latin typeface="+mn-lt"/>
              <a:ea typeface="+mn-ea"/>
              <a:cs typeface="+mn-cs"/>
            </a:endParaRPr>
          </a:p>
          <a:p>
            <a:r>
              <a:rPr lang="en-US" sz="1200" b="1" baseline="0" dirty="0">
                <a:solidFill>
                  <a:schemeClr val="dk1"/>
                </a:solidFill>
                <a:latin typeface="+mn-lt"/>
                <a:ea typeface="+mn-ea"/>
                <a:cs typeface="+mn-cs"/>
              </a:rPr>
              <a:t>FY24: </a:t>
            </a:r>
            <a:r>
              <a:rPr lang="en-US" sz="1200" b="0" baseline="0" dirty="0">
                <a:solidFill>
                  <a:schemeClr val="dk1"/>
                </a:solidFill>
                <a:latin typeface="+mn-lt"/>
                <a:ea typeface="+mn-ea"/>
                <a:cs typeface="+mn-cs"/>
              </a:rPr>
              <a:t>29.0 </a:t>
            </a:r>
            <a:r>
              <a:rPr lang="en-US" sz="1200" b="0" baseline="0" dirty="0" err="1">
                <a:solidFill>
                  <a:schemeClr val="dk1"/>
                </a:solidFill>
                <a:latin typeface="+mn-lt"/>
                <a:ea typeface="+mn-ea"/>
                <a:cs typeface="+mn-cs"/>
              </a:rPr>
              <a:t>hr</a:t>
            </a:r>
            <a:br>
              <a:rPr lang="en-US" sz="1200" b="1" baseline="0" dirty="0">
                <a:solidFill>
                  <a:schemeClr val="dk1"/>
                </a:solidFill>
                <a:latin typeface="+mn-lt"/>
                <a:ea typeface="+mn-ea"/>
                <a:cs typeface="+mn-cs"/>
              </a:rPr>
            </a:br>
            <a:r>
              <a:rPr lang="en-US" sz="1200" b="1" baseline="0" dirty="0">
                <a:solidFill>
                  <a:schemeClr val="dk1"/>
                </a:solidFill>
                <a:latin typeface="+mn-lt"/>
                <a:ea typeface="+mn-ea"/>
                <a:cs typeface="+mn-cs"/>
              </a:rPr>
              <a:t>FY25: </a:t>
            </a:r>
            <a:r>
              <a:rPr lang="en-US" sz="1200" b="0" baseline="0" dirty="0">
                <a:solidFill>
                  <a:schemeClr val="dk1"/>
                </a:solidFill>
                <a:latin typeface="+mn-lt"/>
                <a:ea typeface="+mn-ea"/>
                <a:cs typeface="+mn-cs"/>
              </a:rPr>
              <a:t>27.1 </a:t>
            </a:r>
            <a:r>
              <a:rPr lang="en-US" sz="1200" b="0" baseline="0" dirty="0" err="1">
                <a:solidFill>
                  <a:schemeClr val="dk1"/>
                </a:solidFill>
                <a:latin typeface="+mn-lt"/>
                <a:ea typeface="+mn-ea"/>
                <a:cs typeface="+mn-cs"/>
              </a:rPr>
              <a:t>hr</a:t>
            </a:r>
            <a:endParaRPr lang="en-US" sz="1200" b="0" baseline="0" dirty="0">
              <a:solidFill>
                <a:schemeClr val="dk1"/>
              </a:solidFill>
              <a:latin typeface="+mn-lt"/>
              <a:ea typeface="+mn-ea"/>
              <a:cs typeface="+mn-cs"/>
            </a:endParaRPr>
          </a:p>
          <a:p>
            <a:pPr algn="l"/>
            <a:endParaRPr lang="en-US" sz="1300" b="1" baseline="0" dirty="0">
              <a:solidFill>
                <a:schemeClr val="dk1"/>
              </a:solidFill>
              <a:latin typeface="+mn-lt"/>
              <a:ea typeface="+mn-ea"/>
              <a:cs typeface="+mn-cs"/>
            </a:endParaRPr>
          </a:p>
        </p:txBody>
      </p:sp>
      <p:sp>
        <p:nvSpPr>
          <p:cNvPr id="10" name="TextBox 6">
            <a:extLst>
              <a:ext uri="{FF2B5EF4-FFF2-40B4-BE49-F238E27FC236}">
                <a16:creationId xmlns:a16="http://schemas.microsoft.com/office/drawing/2014/main" id="{0A5D5F26-24AC-31AB-C4CD-59AC050DE1F3}"/>
              </a:ext>
            </a:extLst>
          </p:cNvPr>
          <p:cNvSpPr txBox="1"/>
          <p:nvPr/>
        </p:nvSpPr>
        <p:spPr>
          <a:xfrm>
            <a:off x="8278287" y="585133"/>
            <a:ext cx="3602567" cy="1039532"/>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400" b="1" u="sng" baseline="0" dirty="0"/>
              <a:t>Discharges before 1100</a:t>
            </a:r>
            <a:br>
              <a:rPr lang="en-US" sz="1800" u="none" baseline="0" dirty="0"/>
            </a:br>
            <a:r>
              <a:rPr lang="en-US" sz="1200" b="1" baseline="0" dirty="0">
                <a:solidFill>
                  <a:schemeClr val="tx1"/>
                </a:solidFill>
              </a:rPr>
              <a:t>FY22: 22%</a:t>
            </a:r>
            <a:br>
              <a:rPr lang="en-US" sz="1200" baseline="0" dirty="0">
                <a:solidFill>
                  <a:schemeClr val="tx1"/>
                </a:solidFill>
              </a:rPr>
            </a:br>
            <a:r>
              <a:rPr lang="en-US" sz="1200" b="1" baseline="0" dirty="0">
                <a:solidFill>
                  <a:schemeClr val="tx1"/>
                </a:solidFill>
                <a:latin typeface="+mn-lt"/>
                <a:ea typeface="+mn-ea"/>
                <a:cs typeface="+mn-cs"/>
              </a:rPr>
              <a:t>FY23: 36%</a:t>
            </a:r>
            <a:endParaRPr lang="en-US" sz="1200" b="0" baseline="0" dirty="0">
              <a:solidFill>
                <a:schemeClr val="tx1"/>
              </a:solidFill>
              <a:latin typeface="+mn-lt"/>
              <a:ea typeface="+mn-ea"/>
              <a:cs typeface="+mn-cs"/>
            </a:endParaRPr>
          </a:p>
          <a:p>
            <a:r>
              <a:rPr lang="en-US" sz="1200" b="1" baseline="0" dirty="0">
                <a:solidFill>
                  <a:schemeClr val="tx1"/>
                </a:solidFill>
                <a:latin typeface="+mn-lt"/>
                <a:ea typeface="+mn-ea"/>
                <a:cs typeface="+mn-cs"/>
              </a:rPr>
              <a:t>FY24: 41%</a:t>
            </a:r>
            <a:br>
              <a:rPr lang="en-US" sz="1200" b="1" baseline="0" dirty="0">
                <a:solidFill>
                  <a:schemeClr val="tx1"/>
                </a:solidFill>
                <a:latin typeface="+mn-lt"/>
                <a:ea typeface="+mn-ea"/>
                <a:cs typeface="+mn-cs"/>
              </a:rPr>
            </a:br>
            <a:r>
              <a:rPr lang="en-US" sz="1200" b="1" baseline="0" dirty="0">
                <a:solidFill>
                  <a:schemeClr val="tx1"/>
                </a:solidFill>
                <a:latin typeface="+mn-lt"/>
                <a:ea typeface="+mn-ea"/>
                <a:cs typeface="+mn-cs"/>
              </a:rPr>
              <a:t>FY25: 31%</a:t>
            </a:r>
            <a:endParaRPr lang="en-US" sz="1200" b="0" baseline="0" dirty="0">
              <a:solidFill>
                <a:schemeClr val="tx1"/>
              </a:solidFill>
              <a:latin typeface="+mn-lt"/>
              <a:ea typeface="+mn-ea"/>
              <a:cs typeface="+mn-cs"/>
            </a:endParaRPr>
          </a:p>
          <a:p>
            <a:pPr algn="l"/>
            <a:endParaRPr lang="en-US" sz="1300" b="1" baseline="0" dirty="0">
              <a:solidFill>
                <a:schemeClr val="dk1"/>
              </a:solidFill>
              <a:latin typeface="+mn-lt"/>
              <a:ea typeface="+mn-ea"/>
              <a:cs typeface="+mn-cs"/>
            </a:endParaRPr>
          </a:p>
        </p:txBody>
      </p:sp>
    </p:spTree>
    <p:extLst>
      <p:ext uri="{BB962C8B-B14F-4D97-AF65-F5344CB8AC3E}">
        <p14:creationId xmlns:p14="http://schemas.microsoft.com/office/powerpoint/2010/main" val="554486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03A69C58-BA28-3023-2990-23006E423A1C}"/>
              </a:ext>
            </a:extLst>
          </p:cNvPr>
          <p:cNvGraphicFramePr>
            <a:graphicFrameLocks/>
          </p:cNvGraphicFramePr>
          <p:nvPr>
            <p:extLst>
              <p:ext uri="{D42A27DB-BD31-4B8C-83A1-F6EECF244321}">
                <p14:modId xmlns:p14="http://schemas.microsoft.com/office/powerpoint/2010/main" val="285801567"/>
              </p:ext>
            </p:extLst>
          </p:nvPr>
        </p:nvGraphicFramePr>
        <p:xfrm>
          <a:off x="0" y="0"/>
          <a:ext cx="12192000" cy="685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02417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28D4E-9F2E-6D4E-37EF-D59B9F513C39}"/>
            </a:ext>
          </a:extLst>
        </p:cNvPr>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CD92841D-4108-FC04-DBC8-7192398FE8DD}"/>
              </a:ext>
            </a:extLst>
          </p:cNvPr>
          <p:cNvGraphicFramePr>
            <a:graphicFrameLocks/>
          </p:cNvGraphicFramePr>
          <p:nvPr>
            <p:extLst>
              <p:ext uri="{D42A27DB-BD31-4B8C-83A1-F6EECF244321}">
                <p14:modId xmlns:p14="http://schemas.microsoft.com/office/powerpoint/2010/main" val="269087886"/>
              </p:ext>
            </p:extLst>
          </p:nvPr>
        </p:nvGraphicFramePr>
        <p:xfrm>
          <a:off x="26650" y="0"/>
          <a:ext cx="12165350" cy="68580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4E6218D6-295F-7AF1-F571-74B64727B9D9}"/>
              </a:ext>
            </a:extLst>
          </p:cNvPr>
          <p:cNvSpPr txBox="1"/>
          <p:nvPr/>
        </p:nvSpPr>
        <p:spPr>
          <a:xfrm>
            <a:off x="8065512" y="447558"/>
            <a:ext cx="2321838" cy="1323439"/>
          </a:xfrm>
          <a:prstGeom prst="rect">
            <a:avLst/>
          </a:prstGeom>
          <a:solidFill>
            <a:schemeClr val="bg1"/>
          </a:solidFill>
        </p:spPr>
        <p:txBody>
          <a:bodyPr wrap="square" rtlCol="0">
            <a:spAutoFit/>
          </a:bodyPr>
          <a:lstStyle/>
          <a:p>
            <a:r>
              <a:rPr lang="en-US" sz="1600" dirty="0"/>
              <a:t>Volume Admitted to Unit</a:t>
            </a:r>
          </a:p>
          <a:p>
            <a:r>
              <a:rPr lang="en-US" sz="1600" dirty="0"/>
              <a:t>FY22: 960</a:t>
            </a:r>
          </a:p>
          <a:p>
            <a:r>
              <a:rPr lang="en-US" sz="1600" dirty="0"/>
              <a:t>FY23: 1,686</a:t>
            </a:r>
          </a:p>
          <a:p>
            <a:r>
              <a:rPr lang="en-US" sz="1600" dirty="0"/>
              <a:t>FY24: 2,019</a:t>
            </a:r>
          </a:p>
          <a:p>
            <a:r>
              <a:rPr lang="en-US" sz="1600" dirty="0"/>
              <a:t>FY25: 2,315	</a:t>
            </a:r>
            <a:endParaRPr lang="en-US" dirty="0"/>
          </a:p>
        </p:txBody>
      </p:sp>
    </p:spTree>
    <p:extLst>
      <p:ext uri="{BB962C8B-B14F-4D97-AF65-F5344CB8AC3E}">
        <p14:creationId xmlns:p14="http://schemas.microsoft.com/office/powerpoint/2010/main" val="3753202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4013E-14BD-0E8B-FD47-2C5E0D14BBFD}"/>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71DE02B1-6E15-66E3-D43F-6DF1DF352211}"/>
              </a:ext>
            </a:extLst>
          </p:cNvPr>
          <p:cNvGraphicFramePr>
            <a:graphicFrameLocks/>
          </p:cNvGraphicFramePr>
          <p:nvPr>
            <p:extLst>
              <p:ext uri="{D42A27DB-BD31-4B8C-83A1-F6EECF244321}">
                <p14:modId xmlns:p14="http://schemas.microsoft.com/office/powerpoint/2010/main" val="1483213046"/>
              </p:ext>
            </p:extLst>
          </p:nvPr>
        </p:nvGraphicFramePr>
        <p:xfrm>
          <a:off x="0" y="0"/>
          <a:ext cx="12192000" cy="5600699"/>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D5F457A0-9C7D-220E-77E7-58EC6BE7EB19}"/>
              </a:ext>
            </a:extLst>
          </p:cNvPr>
          <p:cNvSpPr txBox="1"/>
          <p:nvPr/>
        </p:nvSpPr>
        <p:spPr>
          <a:xfrm>
            <a:off x="127000" y="6045198"/>
            <a:ext cx="5067300" cy="646331"/>
          </a:xfrm>
          <a:prstGeom prst="rect">
            <a:avLst/>
          </a:prstGeom>
          <a:noFill/>
        </p:spPr>
        <p:txBody>
          <a:bodyPr wrap="square" rtlCol="0">
            <a:spAutoFit/>
          </a:bodyPr>
          <a:lstStyle/>
          <a:p>
            <a:r>
              <a:rPr lang="en-US" dirty="0"/>
              <a:t>October 2024 – August 2025</a:t>
            </a:r>
          </a:p>
          <a:p>
            <a:r>
              <a:rPr lang="en-US" dirty="0"/>
              <a:t>Placements: 3619	</a:t>
            </a:r>
          </a:p>
        </p:txBody>
      </p:sp>
      <p:sp>
        <p:nvSpPr>
          <p:cNvPr id="8" name="TextBox 7">
            <a:extLst>
              <a:ext uri="{FF2B5EF4-FFF2-40B4-BE49-F238E27FC236}">
                <a16:creationId xmlns:a16="http://schemas.microsoft.com/office/drawing/2014/main" id="{7D548094-8128-9F1A-9FEE-2BA3BA04757C}"/>
              </a:ext>
            </a:extLst>
          </p:cNvPr>
          <p:cNvSpPr txBox="1"/>
          <p:nvPr/>
        </p:nvSpPr>
        <p:spPr>
          <a:xfrm>
            <a:off x="6832600" y="6045198"/>
            <a:ext cx="5067300" cy="646331"/>
          </a:xfrm>
          <a:prstGeom prst="rect">
            <a:avLst/>
          </a:prstGeom>
          <a:noFill/>
        </p:spPr>
        <p:txBody>
          <a:bodyPr wrap="square" rtlCol="0">
            <a:spAutoFit/>
          </a:bodyPr>
          <a:lstStyle/>
          <a:p>
            <a:r>
              <a:rPr lang="en-US" dirty="0"/>
              <a:t>October 2024 – August 2025</a:t>
            </a:r>
          </a:p>
          <a:p>
            <a:r>
              <a:rPr lang="en-US" dirty="0"/>
              <a:t>Elective Surgeries: 5900	</a:t>
            </a:r>
          </a:p>
        </p:txBody>
      </p:sp>
    </p:spTree>
    <p:extLst>
      <p:ext uri="{BB962C8B-B14F-4D97-AF65-F5344CB8AC3E}">
        <p14:creationId xmlns:p14="http://schemas.microsoft.com/office/powerpoint/2010/main" val="2668568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393</Words>
  <Application>Microsoft Office PowerPoint</Application>
  <PresentationFormat>Widescreen</PresentationFormat>
  <Paragraphs>81</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Objective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Alaina Smith</dc:creator>
  <cp:lastModifiedBy>Alaina Smith</cp:lastModifiedBy>
  <cp:revision>8</cp:revision>
  <dcterms:created xsi:type="dcterms:W3CDTF">2026-01-14T16:29:58Z</dcterms:created>
  <dcterms:modified xsi:type="dcterms:W3CDTF">2026-01-14T17:24:18Z</dcterms:modified>
</cp:coreProperties>
</file>